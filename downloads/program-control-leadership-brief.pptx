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d131fe75f44449" /><Relationship Type="http://schemas.openxmlformats.org/officeDocument/2006/relationships/extended-properties" Target="/docProps/app.xml" Id="R14f52b0f2daa4f08" /><Relationship Type="http://schemas.openxmlformats.org/officeDocument/2006/relationships/officeDocument" Target="/ppt/presentation.xml" Id="Rd4c48337796e4f66" /></Relationships>
</file>

<file path=ppt/presentation.xml><?xml version="1.0" encoding="utf-8"?>
<p:presentation xmlns:p="http://schemas.openxmlformats.org/presentationml/2006/main">
  <p:sldMasterIdLst>
    <p:sldMasterId xmlns:r="http://schemas.openxmlformats.org/officeDocument/2006/relationships" id="2147483648" r:id="R715735d63fda4a59"/>
  </p:sldMasterIdLst>
  <p:notesMasterIdLst>
    <p:notesMasterId xmlns:r="http://schemas.openxmlformats.org/officeDocument/2006/relationships" r:id="R5c66a59734d14856"/>
  </p:notesMasterIdLst>
  <p:sldIdLst>
    <p:sldId xmlns:r="http://schemas.openxmlformats.org/officeDocument/2006/relationships" id="256" r:id="Ra5d5f97f647c41e0"/>
    <p:sldId xmlns:r="http://schemas.openxmlformats.org/officeDocument/2006/relationships" id="257" r:id="Rf6a6e6a4e6bf4f87"/>
    <p:sldId xmlns:r="http://schemas.openxmlformats.org/officeDocument/2006/relationships" id="258" r:id="R7471da4bdf184dc1"/>
    <p:sldId xmlns:r="http://schemas.openxmlformats.org/officeDocument/2006/relationships" id="259" r:id="Redd5d348602842cf"/>
    <p:sldId xmlns:r="http://schemas.openxmlformats.org/officeDocument/2006/relationships" id="260" r:id="Rdc036ccc0c1e4908"/>
    <p:sldId xmlns:r="http://schemas.openxmlformats.org/officeDocument/2006/relationships" id="261" r:id="R5d144ca2aecb48ea"/>
    <p:sldId xmlns:r="http://schemas.openxmlformats.org/officeDocument/2006/relationships" id="262" r:id="R3e9717e634184e6e"/>
    <p:sldId xmlns:r="http://schemas.openxmlformats.org/officeDocument/2006/relationships" id="263" r:id="Re91ef2ddf51a4230"/>
    <p:sldId xmlns:r="http://schemas.openxmlformats.org/officeDocument/2006/relationships" id="264" r:id="R51a24c0c4b3449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550915831f45fb" /><Relationship Type="http://schemas.openxmlformats.org/officeDocument/2006/relationships/slideMaster" Target="/ppt/slideMasters/slideMaster1.xml" Id="R715735d63fda4a59" /><Relationship Type="http://schemas.openxmlformats.org/officeDocument/2006/relationships/notesMaster" Target="/ppt/notesMasters/notesMaster1.xml" Id="R5c66a59734d14856" /><Relationship Type="http://schemas.openxmlformats.org/officeDocument/2006/relationships/presProps" Target="/ppt/presProps.xml" Id="R4a43bfb98ff04fbf" /><Relationship Type="http://schemas.openxmlformats.org/officeDocument/2006/relationships/tableStyles" Target="/ppt/tableStyles.xml" Id="R0dba45382d2d421f" /><Relationship Type="http://schemas.openxmlformats.org/officeDocument/2006/relationships/slide" Target="/ppt/slides/slide1.xml" Id="Ra5d5f97f647c41e0" /><Relationship Type="http://schemas.openxmlformats.org/officeDocument/2006/relationships/slide" Target="/ppt/slides/slide2.xml" Id="Rf6a6e6a4e6bf4f87" /><Relationship Type="http://schemas.openxmlformats.org/officeDocument/2006/relationships/slide" Target="/ppt/slides/slide3.xml" Id="R7471da4bdf184dc1" /><Relationship Type="http://schemas.openxmlformats.org/officeDocument/2006/relationships/slide" Target="/ppt/slides/slide4.xml" Id="Redd5d348602842cf" /><Relationship Type="http://schemas.openxmlformats.org/officeDocument/2006/relationships/slide" Target="/ppt/slides/slide5.xml" Id="Rdc036ccc0c1e4908" /><Relationship Type="http://schemas.openxmlformats.org/officeDocument/2006/relationships/slide" Target="/ppt/slides/slide6.xml" Id="R5d144ca2aecb48ea" /><Relationship Type="http://schemas.openxmlformats.org/officeDocument/2006/relationships/slide" Target="/ppt/slides/slide7.xml" Id="R3e9717e634184e6e" /><Relationship Type="http://schemas.openxmlformats.org/officeDocument/2006/relationships/slide" Target="/ppt/slides/slide8.xml" Id="Re91ef2ddf51a4230" /><Relationship Type="http://schemas.openxmlformats.org/officeDocument/2006/relationships/slide" Target="/ppt/slides/slide9.xml" Id="R51a24c0c4b3449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4e752ac49e46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5cec49f1a24de4" /><Relationship Type="http://schemas.openxmlformats.org/officeDocument/2006/relationships/notesMaster" Target="/ppt/notesMasters/notesMaster1.xml" Id="R137983c6272842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95dc20af774003" /><Relationship Type="http://schemas.openxmlformats.org/officeDocument/2006/relationships/notesMaster" Target="/ppt/notesMasters/notesMaster1.xml" Id="R550a33428e6240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5c6dec304a4931" /><Relationship Type="http://schemas.openxmlformats.org/officeDocument/2006/relationships/notesMaster" Target="/ppt/notesMasters/notesMaster1.xml" Id="R4f5a2d382d5a4f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7178a7927249ef" /><Relationship Type="http://schemas.openxmlformats.org/officeDocument/2006/relationships/notesMaster" Target="/ppt/notesMasters/notesMaster1.xml" Id="Rcbef847492df45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4c0f004f19401f" /><Relationship Type="http://schemas.openxmlformats.org/officeDocument/2006/relationships/notesMaster" Target="/ppt/notesMasters/notesMaster1.xml" Id="R95801892c25845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275dab7b764551" /><Relationship Type="http://schemas.openxmlformats.org/officeDocument/2006/relationships/notesMaster" Target="/ppt/notesMasters/notesMaster1.xml" Id="Rb9282399035644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aa075170de4005" /><Relationship Type="http://schemas.openxmlformats.org/officeDocument/2006/relationships/notesMaster" Target="/ppt/notesMasters/notesMaster1.xml" Id="Re417178a8e0f4a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007b359b7e4478" /><Relationship Type="http://schemas.openxmlformats.org/officeDocument/2006/relationships/notesMaster" Target="/ppt/notesMasters/notesMaster1.xml" Id="R57e4d23a124b49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a23b1b5c474625" /><Relationship Type="http://schemas.openxmlformats.org/officeDocument/2006/relationships/notesMaster" Target="/ppt/notesMasters/notesMaster1.xml" Id="Rcfd6347d9f59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execution, context, and leadership reporting are managed as separate artifacts. The cost is not only the number of tools; it is the handoff—people reconcile definitions, status, and evidence before every readout. This concept asks whether Program Control can make that chain one governed workflow.</a:t>
            </a:r>
          </a:p>
          <a:p xmlns:a="http://schemas.openxmlformats.org/drawingml/2006/main">
            <a:r>
              <a:t/>
            </a:r>
          </a:p>
          <a:p xmlns:a="http://schemas.openxmlformats.org/drawingml/2006/main">
            <a:r>
              <a:t>[Sources]</a:t>
            </a:r>
          </a:p>
          <a:p xmlns:a="http://schemas.openxmlformats.org/drawingml/2006/main">
            <a:r>
              <a:t>- Internal: Senior Leadership Concept Demo brief, 2026-08-24.</a:t>
            </a:r>
          </a:p>
          <a:p xmlns:a="http://schemas.openxmlformats.org/drawingml/2006/main">
            <a:r>
              <a:t>- Internal: Program Control leadership concept prototype; all displayed data is synthetic.</a:t>
            </a:r>
          </a:p>
          <a:p xmlns:a="http://schemas.openxmlformats.org/drawingml/2006/main">
            <a:r>
              <a:t>- The fragmentation statement is a problem hypothesis to validate with leadership, not a measured enterprise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operating model is one source record with linked views, not one giant screen. Delivery teams maintain the work, the decision page retains the reasoning, and leadership receives an outcome-level view. The same update carries its identity and history into each view.</a:t>
            </a:r>
          </a:p>
          <a:p xmlns:a="http://schemas.openxmlformats.org/drawingml/2006/main">
            <a:r>
              <a:t/>
            </a:r>
          </a:p>
          <a:p xmlns:a="http://schemas.openxmlformats.org/drawingml/2006/main">
            <a:r>
              <a:t>[Sources]</a:t>
            </a:r>
          </a:p>
          <a:p xmlns:a="http://schemas.openxmlformats.org/drawingml/2006/main">
            <a:r>
              <a:t>- Internal: Program Control leadership concept prototype; synthetic Sentinel Mesh Node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synthetic scenario, leadership does not begin with a project plan or a wall of metrics. It begins with a specific intervention: certification is threatening the demonstration milestone, and a recovery choice is needed. The amber signal is the doorway into the evidence, not the conclusion.</a:t>
            </a:r>
          </a:p>
          <a:p xmlns:a="http://schemas.openxmlformats.org/drawingml/2006/main">
            <a:r>
              <a:t/>
            </a:r>
          </a:p>
          <a:p xmlns:a="http://schemas.openxmlformats.org/drawingml/2006/main">
            <a:r>
              <a:t>[Sources]</a:t>
            </a:r>
          </a:p>
          <a:p xmlns:a="http://schemas.openxmlformats.org/drawingml/2006/main">
            <a:r>
              <a:t>- Internal: Program Control leadership concept prototype; all project names, dates, values,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alert reveals SMN-214, its accountable owner, six dependent items, and eighteen days of schedule exposure. The linked decision page retains the options, recommendation, supporting evidence, discussion, and version history. Leadership can follow the signal to its source without asking someone to reconstruct the story in another briefing.</a:t>
            </a:r>
          </a:p>
          <a:p xmlns:a="http://schemas.openxmlformats.org/drawingml/2006/main">
            <a:r>
              <a:t/>
            </a:r>
          </a:p>
          <a:p xmlns:a="http://schemas.openxmlformats.org/drawingml/2006/main">
            <a:r>
              <a:t>[Sources]</a:t>
            </a:r>
          </a:p>
          <a:p xmlns:a="http://schemas.openxmlformats.org/drawingml/2006/main">
            <a:r>
              <a:t>- Internal: Program Control leadership concept prototype; synthetic work item SMN-214 and decision DEC-028.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approve Option B in the concept. The decision changes from pending to approved; six dependent items resume; milestone exposure falls from eighteen to four days; and the risk treatment, audit trail, notification, and briefing facts refresh. The project remains amber until verification evidence closes—the system records mitigation, not false certainty.</a:t>
            </a:r>
          </a:p>
          <a:p xmlns:a="http://schemas.openxmlformats.org/drawingml/2006/main">
            <a:r>
              <a:t/>
            </a:r>
          </a:p>
          <a:p xmlns:a="http://schemas.openxmlformats.org/drawingml/2006/main">
            <a:r>
              <a:t>[Sources]</a:t>
            </a:r>
          </a:p>
          <a:p xmlns:a="http://schemas.openxmlformats.org/drawingml/2006/main">
            <a:r>
              <a:t>- Internal: Program Control leadership concept prototype.</a:t>
            </a:r>
          </a:p>
          <a:p xmlns:a="http://schemas.openxmlformats.org/drawingml/2006/main">
            <a:r>
              <a:t>- All before-and-after values are synthetic scenario behavior, not measured operational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shown is a front-end concept with synthetic data. It demonstrates the intended workflow and leadership experience; it does not claim completed migration, enterprise scale, or production readiness. Those are the questions a pilot would have to prove.</a:t>
            </a:r>
          </a:p>
          <a:p xmlns:a="http://schemas.openxmlformats.org/drawingml/2006/main">
            <a:r>
              <a:t/>
            </a:r>
          </a:p>
          <a:p xmlns:a="http://schemas.openxmlformats.org/drawingml/2006/main">
            <a:r>
              <a:t>[Sources]</a:t>
            </a:r>
          </a:p>
          <a:p xmlns:a="http://schemas.openxmlformats.org/drawingml/2006/main">
            <a:r>
              <a:t>- Internal: Senior Leadership Concept Demo brief,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purpose today is not approval to buy or deploy. We want to identify the highest-value workflow, the next scenario worth making real, and the requirement that could stop a pilot. Capture the answers directly and use them to define the next prototype and evaluation criteria.</a:t>
            </a:r>
          </a:p>
          <a:p xmlns:a="http://schemas.openxmlformats.org/drawingml/2006/main">
            <a:r>
              <a:t/>
            </a:r>
          </a:p>
          <a:p xmlns:a="http://schemas.openxmlformats.org/drawingml/2006/main">
            <a:r>
              <a:t>[Sources]</a:t>
            </a:r>
          </a:p>
          <a:p xmlns:a="http://schemas.openxmlformats.org/drawingml/2006/main">
            <a:r>
              <a:t>- Internal: Program Control leadership concept prototype; synthetic leadership readout.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Control already documents an authenticated workspace boundary, scoped roles, D1/R2 storage, revisions, audit, and connected projections. The replacement path would extend that foundation with normalized work and page records, richer knowledge versioning, permission-aware search, and asynchronous event handling. The concept demo itself uses none of these services.</a:t>
            </a:r>
          </a:p>
          <a:p xmlns:a="http://schemas.openxmlformats.org/drawingml/2006/main">
            <a:r>
              <a:t/>
            </a:r>
          </a:p>
          <a:p xmlns:a="http://schemas.openxmlformats.org/drawingml/2006/main">
            <a:r>
              <a:t>[Sources]</a:t>
            </a:r>
          </a:p>
          <a:p xmlns:a="http://schemas.openxmlformats.org/drawingml/2006/main">
            <a:r>
              <a:t>- Internal: Program Control README.md, Connected Records, multi-tenant workspace, authentication, roadmap, and Knowledge Hub sections.</a:t>
            </a:r>
          </a:p>
          <a:p xmlns:a="http://schemas.openxmlformats.org/drawingml/2006/main">
            <a:r>
              <a:t>- Internal: Program Control ENTERPRISE-READINESS.md, Decision and Priority 1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Migrate one team at a time. Inventory workflows and customizations, trial the mapping, rehearse the import, freeze the source, apply the final delta, and verify objects, permissions, references, and attachments. Preserve each migrated Atlassian area as read-only for thirty days rather than creating a fragile bidirectional sync.</a:t>
            </a:r>
          </a:p>
          <a:p xmlns:a="http://schemas.openxmlformats.org/drawingml/2006/main">
            <a:r>
              <a:t/>
            </a:r>
          </a:p>
          <a:p xmlns:a="http://schemas.openxmlformats.org/drawingml/2006/main">
            <a:r>
              <a:t>[Sources]</a:t>
            </a:r>
          </a:p>
          <a:p xmlns:a="http://schemas.openxmlformats.org/drawingml/2006/main">
            <a:r>
              <a:t>- Internal: Approved Jira and Confluence replacement implementation plan, 2026-08-22.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cbd428caca48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f3088cbfe94585" /><Relationship Type="http://schemas.openxmlformats.org/officeDocument/2006/relationships/slideLayout" Target="/ppt/slideLayouts/slideLayout1.xml" Id="R2fa4f739878242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a4f739878242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0157b7d74f43b6" /><Relationship Type="http://schemas.openxmlformats.org/officeDocument/2006/relationships/image" Target="/ppt/media/image.png" Id="R2370b46b9a3c4fc7" /><Relationship Type="http://schemas.openxmlformats.org/officeDocument/2006/relationships/image" Target="/ppt/media/image2.png" Id="Rea5ed7be29ab4f45" /><Relationship Type="http://schemas.openxmlformats.org/officeDocument/2006/relationships/notesSlide" Target="/ppt/notesSlides/notesSlide1.xml" Id="Ra9d23bc621064d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bafc56c2854b17" /><Relationship Type="http://schemas.openxmlformats.org/officeDocument/2006/relationships/image" Target="/ppt/media/image3.png" Id="R3a15d55c8e744db4" /><Relationship Type="http://schemas.openxmlformats.org/officeDocument/2006/relationships/notesSlide" Target="/ppt/notesSlides/notesSlide2.xml" Id="R84355be24dfb44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9ba227a052479f" /><Relationship Type="http://schemas.openxmlformats.org/officeDocument/2006/relationships/image" Target="/ppt/media/image4.png" Id="R1a8a03ec81554a87" /><Relationship Type="http://schemas.openxmlformats.org/officeDocument/2006/relationships/notesSlide" Target="/ppt/notesSlides/notesSlide3.xml" Id="Ra3a76e74e40d4c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5d715bc3f0430a" /><Relationship Type="http://schemas.openxmlformats.org/officeDocument/2006/relationships/image" Target="/ppt/media/image5.png" Id="R7a97ac10e9a843c2" /><Relationship Type="http://schemas.openxmlformats.org/officeDocument/2006/relationships/image" Target="/ppt/media/image6.png" Id="Rd370ae55b80a4160" /><Relationship Type="http://schemas.openxmlformats.org/officeDocument/2006/relationships/notesSlide" Target="/ppt/notesSlides/notesSlide4.xml" Id="R6c0f42412fde4b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38ed7ba7d241e7" /><Relationship Type="http://schemas.openxmlformats.org/officeDocument/2006/relationships/image" Target="/ppt/media/image7.png" Id="R371d339d0ec541db" /><Relationship Type="http://schemas.openxmlformats.org/officeDocument/2006/relationships/image" Target="/ppt/media/image8.png" Id="Rc0f7b6a37e4e4e72" /><Relationship Type="http://schemas.openxmlformats.org/officeDocument/2006/relationships/notesSlide" Target="/ppt/notesSlides/notesSlide5.xml" Id="R749c4710145c4f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91de6092384fa0" /><Relationship Type="http://schemas.openxmlformats.org/officeDocument/2006/relationships/image" Target="/ppt/media/image9.png" Id="R910983a30cc04bbc" /><Relationship Type="http://schemas.openxmlformats.org/officeDocument/2006/relationships/notesSlide" Target="/ppt/notesSlides/notesSlide6.xml" Id="Rab30b222c41d46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d8a91384fc44ca" /><Relationship Type="http://schemas.openxmlformats.org/officeDocument/2006/relationships/image" Target="/ppt/media/image10.png" Id="R0d0614835b4447ce" /><Relationship Type="http://schemas.openxmlformats.org/officeDocument/2006/relationships/notesSlide" Target="/ppt/notesSlides/notesSlide7.xml" Id="R1d218545c31843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c00954cd7a4a91" /><Relationship Type="http://schemas.openxmlformats.org/officeDocument/2006/relationships/notesSlide" Target="/ppt/notesSlides/notesSlide8.xml" Id="R7f52d577d30a48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bd3e3b8e88424e" /><Relationship Type="http://schemas.openxmlformats.org/officeDocument/2006/relationships/notesSlide" Target="/ppt/notesSlides/notesSlide9.xml" Id="Rff6a3715434e467f" /></Relationships>
</file>

<file path=ppt/slides/slide1.xml><?xml version="1.0" encoding="utf-8"?>
<p:sld xmlns:p="http://schemas.openxmlformats.org/presentationml/2006/main">
  <p:cSld>
    <p:bg>
      <p:bgPr>
        <a:solidFill xmlns:a="http://schemas.openxmlformats.org/drawingml/2006/main">
          <a:srgbClr val="071A2D"/>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370b46b9a3c4fc7"/>
          <a:stretch xmlns:a="http://schemas.openxmlformats.org/drawingml/2006/main"/>
        </p:blipFill>
        <p:spPr>
          <a:xfrm xmlns:a="http://schemas.openxmlformats.org/drawingml/2006/main">
            <a:off x="723900" y="285750"/>
            <a:ext cx="400050" cy="4000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13E2E6-A828-464C-8256-CCF223B86590}"/>
              </a:ext>
            </a:extLst>
          </p:cNvPr>
          <p:cNvSpPr>
            <a:spLocks xmlns:a="http://schemas.openxmlformats.org/drawingml/2006/main" noGrp="1"/>
          </p:cNvSpPr>
          <p:nvPr/>
        </p:nvSpPr>
        <p:spPr>
          <a:xfrm xmlns:a="http://schemas.openxmlformats.org/drawingml/2006/main">
            <a:off x="12192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90D2FF"/>
                </a:solidFill>
                <a:latin typeface="Inter"/>
                <a:ea typeface="Inter"/>
                <a:cs typeface="Inter"/>
              </a:defRPr>
            </a:pPr>
            <a:r>
              <a:rPr sz="975" b="1">
                <a:solidFill>
                  <a:srgbClr val="90D2FF"/>
                </a:solidFill>
                <a:latin typeface="Inter"/>
                <a:ea typeface="Inter"/>
                <a:cs typeface="Inter"/>
              </a:rPr>
              <a:t>PROGRAM CONTROL · LEADERSHIP CONCEPT</a:t>
            </a:r>
          </a:p>
        </p:txBody>
      </p:sp>
      <p:sp>
        <p:nvSpPr>
          <p:cNvPr id="3" name="">
            <a:extLst xmlns:a="http://schemas.openxmlformats.org/drawingml/2006/main">
              <a:ext uri="{FF2B5EF4-FFF2-40B4-BE49-F238E27FC236}">
                <a16:creationId xmlns:a16="http://schemas.microsoft.com/office/drawing/2014/main" id="{54D12C26-7959-4280-A55E-81C33B6C2136}"/>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9CCE0"/>
                </a:solidFill>
                <a:latin typeface="Inter"/>
                <a:ea typeface="Inter"/>
                <a:cs typeface="Inter"/>
              </a:defRPr>
            </a:pPr>
            <a:r>
              <a:rPr sz="975" b="1">
                <a:solidFill>
                  <a:srgbClr val="B9CCE0"/>
                </a:solidFill>
                <a:latin typeface="Inter"/>
                <a:ea typeface="Inter"/>
                <a:cs typeface="Inter"/>
              </a:rPr>
              <a:t>01</a:t>
            </a:r>
          </a:p>
        </p:txBody>
      </p:sp>
      <p:sp>
        <p:nvSpPr>
          <p:cNvPr id="4" name="">
            <a:extLst xmlns:a="http://schemas.openxmlformats.org/drawingml/2006/main">
              <a:ext uri="{FF2B5EF4-FFF2-40B4-BE49-F238E27FC236}">
                <a16:creationId xmlns:a16="http://schemas.microsoft.com/office/drawing/2014/main" id="{AD1C1071-DB7F-4B16-98CA-E087C56AAF86}"/>
              </a:ext>
            </a:extLst>
          </p:cNvPr>
          <p:cNvSpPr>
            <a:spLocks xmlns:a="http://schemas.openxmlformats.org/drawingml/2006/main" noGrp="1"/>
          </p:cNvSpPr>
          <p:nvPr/>
        </p:nvSpPr>
        <p:spPr>
          <a:xfrm xmlns:a="http://schemas.openxmlformats.org/drawingml/2006/main">
            <a:off x="723900" y="933450"/>
            <a:ext cx="4762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62"/>
          </a:bodyPr>
          <a:lstStyle xmlns:a="http://schemas.openxmlformats.org/drawingml/2006/main"/>
          <a:p xmlns:a="http://schemas.openxmlformats.org/drawingml/2006/main">
            <a:pPr algn="l">
              <a:lnSpc>
                <a:spcPct val="90000"/>
              </a:lnSpc>
              <a:buNone/>
              <a:defRPr sz="3750" b="1">
                <a:solidFill>
                  <a:srgbClr val="FFFFFF"/>
                </a:solidFill>
                <a:latin typeface="Inter"/>
                <a:ea typeface="Inter"/>
                <a:cs typeface="Inter"/>
              </a:defRPr>
            </a:pPr>
            <a:r>
              <a:rPr sz="3750" b="1">
                <a:solidFill>
                  <a:srgbClr val="FFFFFF"/>
                </a:solidFill>
                <a:latin typeface="Inter"/>
                <a:ea typeface="Inter"/>
                <a:cs typeface="Inter"/>
              </a:rPr>
              <a:t>Three systems create</a:t>
            </a:r>
          </a:p>
          <a:p xmlns:a="http://schemas.openxmlformats.org/drawingml/2006/main">
            <a:pPr algn="l">
              <a:lnSpc>
                <a:spcPct val="90000"/>
              </a:lnSpc>
              <a:buNone/>
              <a:defRPr sz="3750" b="1">
                <a:solidFill>
                  <a:srgbClr val="FFFFFF"/>
                </a:solidFill>
                <a:latin typeface="Inter"/>
                <a:ea typeface="Inter"/>
                <a:cs typeface="Inter"/>
              </a:defRPr>
            </a:pPr>
            <a:r>
              <a:rPr sz="3750" b="1">
                <a:solidFill>
                  <a:srgbClr val="FFFFFF"/>
                </a:solidFill>
                <a:latin typeface="Inter"/>
                <a:ea typeface="Inter"/>
                <a:cs typeface="Inter"/>
              </a:rPr>
              <a:t>one leadership blind spot.</a:t>
            </a:r>
          </a:p>
        </p:txBody>
      </p:sp>
      <p:sp>
        <p:nvSpPr>
          <p:cNvPr id="5" name="">
            <a:extLst xmlns:a="http://schemas.openxmlformats.org/drawingml/2006/main">
              <a:ext uri="{FF2B5EF4-FFF2-40B4-BE49-F238E27FC236}">
                <a16:creationId xmlns:a16="http://schemas.microsoft.com/office/drawing/2014/main" id="{2A58EE4A-501A-4770-B407-A9A73ECDBABE}"/>
              </a:ext>
            </a:extLst>
          </p:cNvPr>
          <p:cNvSpPr>
            <a:spLocks xmlns:a="http://schemas.openxmlformats.org/drawingml/2006/main" noGrp="1"/>
          </p:cNvSpPr>
          <p:nvPr/>
        </p:nvSpPr>
        <p:spPr>
          <a:xfrm xmlns:a="http://schemas.openxmlformats.org/drawingml/2006/main">
            <a:off x="723900" y="2571750"/>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C4D5E6"/>
                </a:solidFill>
                <a:latin typeface="Inter"/>
                <a:ea typeface="Inter"/>
                <a:cs typeface="Inter"/>
              </a:defRPr>
            </a:pPr>
            <a:r>
              <a:rPr sz="1575" b="0">
                <a:solidFill>
                  <a:srgbClr val="C4D5E6"/>
                </a:solidFill>
                <a:latin typeface="Inter"/>
                <a:ea typeface="Inter"/>
                <a:cs typeface="Inter"/>
              </a:rPr>
              <a:t>Every leadership readout starts with manual reconciliation.</a:t>
            </a:r>
          </a:p>
        </p:txBody>
      </p:sp>
      <p:sp>
        <p:nvSpPr>
          <p:cNvPr id="6" name="">
            <a:extLst xmlns:a="http://schemas.openxmlformats.org/drawingml/2006/main">
              <a:ext uri="{FF2B5EF4-FFF2-40B4-BE49-F238E27FC236}">
                <a16:creationId xmlns:a16="http://schemas.microsoft.com/office/drawing/2014/main" id="{71452B76-AF71-4F8E-AACE-16177E22D4AA}"/>
              </a:ext>
            </a:extLst>
          </p:cNvPr>
          <p:cNvSpPr>
            <a:spLocks xmlns:a="http://schemas.openxmlformats.org/drawingml/2006/main" noGrp="1"/>
          </p:cNvSpPr>
          <p:nvPr/>
        </p:nvSpPr>
        <p:spPr>
          <a:xfrm xmlns:a="http://schemas.openxmlformats.org/drawingml/2006/main">
            <a:off x="723900" y="3581400"/>
            <a:ext cx="171450" cy="38100"/>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7" name="">
            <a:extLst xmlns:a="http://schemas.openxmlformats.org/drawingml/2006/main">
              <a:ext uri="{FF2B5EF4-FFF2-40B4-BE49-F238E27FC236}">
                <a16:creationId xmlns:a16="http://schemas.microsoft.com/office/drawing/2014/main" id="{AFCAFF7E-EDED-46C7-80D1-61DD6D79D318}"/>
              </a:ext>
            </a:extLst>
          </p:cNvPr>
          <p:cNvSpPr>
            <a:spLocks xmlns:a="http://schemas.openxmlformats.org/drawingml/2006/main" noGrp="1"/>
          </p:cNvSpPr>
          <p:nvPr/>
        </p:nvSpPr>
        <p:spPr>
          <a:xfrm xmlns:a="http://schemas.openxmlformats.org/drawingml/2006/main">
            <a:off x="1028700" y="3543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Jira</a:t>
            </a:r>
          </a:p>
        </p:txBody>
      </p:sp>
      <p:sp>
        <p:nvSpPr>
          <p:cNvPr id="8" name="">
            <a:extLst xmlns:a="http://schemas.openxmlformats.org/drawingml/2006/main">
              <a:ext uri="{FF2B5EF4-FFF2-40B4-BE49-F238E27FC236}">
                <a16:creationId xmlns:a16="http://schemas.microsoft.com/office/drawing/2014/main" id="{0648221B-7C0B-429C-82ED-D39226128F55}"/>
              </a:ext>
            </a:extLst>
          </p:cNvPr>
          <p:cNvSpPr>
            <a:spLocks xmlns:a="http://schemas.openxmlformats.org/drawingml/2006/main" noGrp="1"/>
          </p:cNvSpPr>
          <p:nvPr/>
        </p:nvSpPr>
        <p:spPr>
          <a:xfrm xmlns:a="http://schemas.openxmlformats.org/drawingml/2006/main">
            <a:off x="2952750" y="35433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9DB4C9"/>
                </a:solidFill>
                <a:latin typeface="Inter"/>
                <a:ea typeface="Inter"/>
                <a:cs typeface="Inter"/>
              </a:defRPr>
            </a:pPr>
            <a:r>
              <a:rPr sz="1350" b="0">
                <a:solidFill>
                  <a:srgbClr val="9DB4C9"/>
                </a:solidFill>
                <a:latin typeface="Inter"/>
                <a:ea typeface="Inter"/>
                <a:cs typeface="Inter"/>
              </a:rPr>
              <a:t>· work</a:t>
            </a:r>
          </a:p>
        </p:txBody>
      </p:sp>
      <p:sp>
        <p:nvSpPr>
          <p:cNvPr id="9" name="">
            <a:extLst xmlns:a="http://schemas.openxmlformats.org/drawingml/2006/main">
              <a:ext uri="{FF2B5EF4-FFF2-40B4-BE49-F238E27FC236}">
                <a16:creationId xmlns:a16="http://schemas.microsoft.com/office/drawing/2014/main" id="{5C9A6070-6B34-47F5-8100-22D333A50604}"/>
              </a:ext>
            </a:extLst>
          </p:cNvPr>
          <p:cNvSpPr>
            <a:spLocks xmlns:a="http://schemas.openxmlformats.org/drawingml/2006/main" noGrp="1"/>
          </p:cNvSpPr>
          <p:nvPr/>
        </p:nvSpPr>
        <p:spPr>
          <a:xfrm xmlns:a="http://schemas.openxmlformats.org/drawingml/2006/main">
            <a:off x="723900" y="4171950"/>
            <a:ext cx="171450" cy="38100"/>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10" name="">
            <a:extLst xmlns:a="http://schemas.openxmlformats.org/drawingml/2006/main">
              <a:ext uri="{FF2B5EF4-FFF2-40B4-BE49-F238E27FC236}">
                <a16:creationId xmlns:a16="http://schemas.microsoft.com/office/drawing/2014/main" id="{B0EB690A-76BA-4A17-B4CE-7570F352341B}"/>
              </a:ext>
            </a:extLst>
          </p:cNvPr>
          <p:cNvSpPr>
            <a:spLocks xmlns:a="http://schemas.openxmlformats.org/drawingml/2006/main" noGrp="1"/>
          </p:cNvSpPr>
          <p:nvPr/>
        </p:nvSpPr>
        <p:spPr>
          <a:xfrm xmlns:a="http://schemas.openxmlformats.org/drawingml/2006/main">
            <a:off x="1028700" y="4133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Confluence</a:t>
            </a:r>
          </a:p>
        </p:txBody>
      </p:sp>
      <p:sp>
        <p:nvSpPr>
          <p:cNvPr id="11" name="">
            <a:extLst xmlns:a="http://schemas.openxmlformats.org/drawingml/2006/main">
              <a:ext uri="{FF2B5EF4-FFF2-40B4-BE49-F238E27FC236}">
                <a16:creationId xmlns:a16="http://schemas.microsoft.com/office/drawing/2014/main" id="{4071D8B5-A1A4-46B7-89BE-D22449FA0840}"/>
              </a:ext>
            </a:extLst>
          </p:cNvPr>
          <p:cNvSpPr>
            <a:spLocks xmlns:a="http://schemas.openxmlformats.org/drawingml/2006/main" noGrp="1"/>
          </p:cNvSpPr>
          <p:nvPr/>
        </p:nvSpPr>
        <p:spPr>
          <a:xfrm xmlns:a="http://schemas.openxmlformats.org/drawingml/2006/main">
            <a:off x="2952750" y="41338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9DB4C9"/>
                </a:solidFill>
                <a:latin typeface="Inter"/>
                <a:ea typeface="Inter"/>
                <a:cs typeface="Inter"/>
              </a:defRPr>
            </a:pPr>
            <a:r>
              <a:rPr sz="1350" b="0">
                <a:solidFill>
                  <a:srgbClr val="9DB4C9"/>
                </a:solidFill>
                <a:latin typeface="Inter"/>
                <a:ea typeface="Inter"/>
                <a:cs typeface="Inter"/>
              </a:rPr>
              <a:t>· context</a:t>
            </a:r>
          </a:p>
        </p:txBody>
      </p:sp>
      <p:sp>
        <p:nvSpPr>
          <p:cNvPr id="12" name="">
            <a:extLst xmlns:a="http://schemas.openxmlformats.org/drawingml/2006/main">
              <a:ext uri="{FF2B5EF4-FFF2-40B4-BE49-F238E27FC236}">
                <a16:creationId xmlns:a16="http://schemas.microsoft.com/office/drawing/2014/main" id="{6A03DB15-F9DB-49C8-A73F-D01D3DE716C7}"/>
              </a:ext>
            </a:extLst>
          </p:cNvPr>
          <p:cNvSpPr>
            <a:spLocks xmlns:a="http://schemas.openxmlformats.org/drawingml/2006/main" noGrp="1"/>
          </p:cNvSpPr>
          <p:nvPr/>
        </p:nvSpPr>
        <p:spPr>
          <a:xfrm xmlns:a="http://schemas.openxmlformats.org/drawingml/2006/main">
            <a:off x="723900" y="4762500"/>
            <a:ext cx="171450" cy="38100"/>
          </a:xfrm>
          <a:prstGeom xmlns:a="http://schemas.openxmlformats.org/drawingml/2006/main" prst="rect">
            <a:avLst/>
          </a:prstGeom>
          <a:solidFill xmlns:a="http://schemas.openxmlformats.org/drawingml/2006/main">
            <a:srgbClr val="F3A712"/>
          </a:solidFill>
          <a:ln xmlns:a="http://schemas.openxmlformats.org/drawingml/2006/main" w="0">
            <a:solidFill>
              <a:srgbClr val="F3A712"/>
            </a:solidFill>
            <a:prstDash val="solid"/>
          </a:ln>
        </p:spPr>
      </p:sp>
      <p:sp>
        <p:nvSpPr>
          <p:cNvPr id="13" name="">
            <a:extLst xmlns:a="http://schemas.openxmlformats.org/drawingml/2006/main">
              <a:ext uri="{FF2B5EF4-FFF2-40B4-BE49-F238E27FC236}">
                <a16:creationId xmlns:a16="http://schemas.microsoft.com/office/drawing/2014/main" id="{C47CC7C9-A6D8-48FD-B68A-58CC0CC7DC57}"/>
              </a:ext>
            </a:extLst>
          </p:cNvPr>
          <p:cNvSpPr>
            <a:spLocks xmlns:a="http://schemas.openxmlformats.org/drawingml/2006/main" noGrp="1"/>
          </p:cNvSpPr>
          <p:nvPr/>
        </p:nvSpPr>
        <p:spPr>
          <a:xfrm xmlns:a="http://schemas.openxmlformats.org/drawingml/2006/main">
            <a:off x="1028700" y="47244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Slides &amp; spreadsheets</a:t>
            </a:r>
          </a:p>
        </p:txBody>
      </p:sp>
      <p:sp>
        <p:nvSpPr>
          <p:cNvPr id="14" name="">
            <a:extLst xmlns:a="http://schemas.openxmlformats.org/drawingml/2006/main">
              <a:ext uri="{FF2B5EF4-FFF2-40B4-BE49-F238E27FC236}">
                <a16:creationId xmlns:a16="http://schemas.microsoft.com/office/drawing/2014/main" id="{07DB371C-20CA-4937-9458-CB3D75C564C6}"/>
              </a:ext>
            </a:extLst>
          </p:cNvPr>
          <p:cNvSpPr>
            <a:spLocks xmlns:a="http://schemas.openxmlformats.org/drawingml/2006/main" noGrp="1"/>
          </p:cNvSpPr>
          <p:nvPr/>
        </p:nvSpPr>
        <p:spPr>
          <a:xfrm xmlns:a="http://schemas.openxmlformats.org/drawingml/2006/main">
            <a:off x="2952750" y="4724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9DB4C9"/>
                </a:solidFill>
                <a:latin typeface="Inter"/>
                <a:ea typeface="Inter"/>
                <a:cs typeface="Inter"/>
              </a:defRPr>
            </a:pPr>
            <a:r>
              <a:rPr sz="1350" b="0">
                <a:solidFill>
                  <a:srgbClr val="9DB4C9"/>
                </a:solidFill>
                <a:latin typeface="Inter"/>
                <a:ea typeface="Inter"/>
                <a:cs typeface="Inter"/>
              </a:rPr>
              <a:t>· status</a:t>
            </a:r>
          </a:p>
        </p:txBody>
      </p:sp>
      <p:sp>
        <p:nvSpPr>
          <p:cNvPr id="15" name="">
            <a:extLst xmlns:a="http://schemas.openxmlformats.org/drawingml/2006/main">
              <a:ext uri="{FF2B5EF4-FFF2-40B4-BE49-F238E27FC236}">
                <a16:creationId xmlns:a16="http://schemas.microsoft.com/office/drawing/2014/main" id="{7B460456-8996-45B2-ABEE-527ED9FD4374}"/>
              </a:ext>
            </a:extLst>
          </p:cNvPr>
          <p:cNvSpPr>
            <a:spLocks xmlns:a="http://schemas.openxmlformats.org/drawingml/2006/main" noGrp="1"/>
          </p:cNvSpPr>
          <p:nvPr/>
        </p:nvSpPr>
        <p:spPr>
          <a:xfrm xmlns:a="http://schemas.openxmlformats.org/drawingml/2006/main">
            <a:off x="5610225" y="1419225"/>
            <a:ext cx="5943600" cy="3752850"/>
          </a:xfrm>
          <a:prstGeom xmlns:a="http://schemas.openxmlformats.org/drawingml/2006/main" prst="roundRect">
            <a:avLst>
              <a:gd name="adj" fmla="val 4061"/>
            </a:avLst>
          </a:prstGeom>
          <a:solidFill xmlns:a="http://schemas.openxmlformats.org/drawingml/2006/main">
            <a:srgbClr val="0B2947"/>
          </a:solidFill>
          <a:ln xmlns:a="http://schemas.openxmlformats.org/drawingml/2006/main" w="9525">
            <a:solidFill>
              <a:srgbClr val="214B70"/>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a5ed7be29ab4f45"/>
          <a:srcRect xmlns:a="http://schemas.openxmlformats.org/drawingml/2006/main" l="33" t="0" r="33" b="0"/>
          <a:stretch xmlns:a="http://schemas.openxmlformats.org/drawingml/2006/main">
            <a:fillRect l="0" t="0" r="0" b="0"/>
          </a:stretch>
        </p:blipFill>
        <p:spPr>
          <a:xfrm xmlns:a="http://schemas.openxmlformats.org/drawingml/2006/main">
            <a:off x="5657850" y="1466850"/>
            <a:ext cx="5848350" cy="3657600"/>
          </a:xfrm>
          <a:prstGeom xmlns:a="http://schemas.openxmlformats.org/drawingml/2006/main" prst="roundRect">
            <a:avLst>
              <a:gd name="adj" fmla="val 3125"/>
            </a:avLst>
          </a:prstGeom>
        </p:spPr>
      </p:pic>
      <p:sp>
        <p:nvSpPr>
          <p:cNvPr id="17" name="">
            <a:extLst xmlns:a="http://schemas.openxmlformats.org/drawingml/2006/main">
              <a:ext uri="{FF2B5EF4-FFF2-40B4-BE49-F238E27FC236}">
                <a16:creationId xmlns:a16="http://schemas.microsoft.com/office/drawing/2014/main" id="{3F05DC93-6F0D-4FD1-9D76-076D69A773A4}"/>
              </a:ext>
            </a:extLst>
          </p:cNvPr>
          <p:cNvSpPr>
            <a:spLocks xmlns:a="http://schemas.openxmlformats.org/drawingml/2006/main" noGrp="1"/>
          </p:cNvSpPr>
          <p:nvPr/>
        </p:nvSpPr>
        <p:spPr>
          <a:xfrm xmlns:a="http://schemas.openxmlformats.org/drawingml/2006/main">
            <a:off x="5657850" y="53530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63B3FF"/>
                </a:solidFill>
                <a:latin typeface="Inter"/>
                <a:ea typeface="Inter"/>
                <a:cs typeface="Inter"/>
              </a:defRPr>
            </a:pPr>
            <a:r>
              <a:rPr sz="900" b="1">
                <a:solidFill>
                  <a:srgbClr val="63B3FF"/>
                </a:solidFill>
                <a:latin typeface="Inter"/>
                <a:ea typeface="Inter"/>
                <a:cs typeface="Inter"/>
              </a:rPr>
              <a:t>FIVE-MINUTE CLICKABLE PROTOTYPE</a:t>
            </a:r>
          </a:p>
        </p:txBody>
      </p:sp>
      <p:sp>
        <p:nvSpPr>
          <p:cNvPr id="18" name="">
            <a:extLst xmlns:a="http://schemas.openxmlformats.org/drawingml/2006/main">
              <a:ext uri="{FF2B5EF4-FFF2-40B4-BE49-F238E27FC236}">
                <a16:creationId xmlns:a16="http://schemas.microsoft.com/office/drawing/2014/main" id="{6090FDB6-9E6E-47FC-9D7E-D4DA6C4EE28C}"/>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B9CCE0"/>
                </a:solidFill>
                <a:latin typeface="Inter"/>
                <a:ea typeface="Inter"/>
                <a:cs typeface="Inter"/>
              </a:defRPr>
            </a:pPr>
            <a:r>
              <a:rPr sz="825" b="1">
                <a:solidFill>
                  <a:srgbClr val="B9CCE0"/>
                </a:solidFill>
                <a:latin typeface="Inter"/>
                <a:ea typeface="Inter"/>
                <a:cs typeface="Inter"/>
              </a:rPr>
              <a:t>CONCEPT DEMO — SYNTHETIC DATA</a:t>
            </a:r>
          </a:p>
        </p:txBody>
      </p:sp>
    </p:spTree>
    <p:extLst>
      <p:ext uri="{BB962C8B-B14F-4D97-AF65-F5344CB8AC3E}">
        <p14:creationId xmlns:p14="http://schemas.microsoft.com/office/powerpoint/2010/main" val="622578623"/>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F285E6-DE93-444D-971A-6C3F6444E4DE}"/>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1477F8"/>
                </a:solidFill>
                <a:latin typeface="Inter"/>
                <a:ea typeface="Inter"/>
                <a:cs typeface="Inter"/>
              </a:defRPr>
            </a:pPr>
            <a:r>
              <a:rPr sz="975" b="1">
                <a:solidFill>
                  <a:srgbClr val="1477F8"/>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201ECD0A-5D73-45EF-8331-61191D718542}"/>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02</a:t>
            </a:r>
          </a:p>
        </p:txBody>
      </p:sp>
      <p:sp>
        <p:nvSpPr>
          <p:cNvPr id="3" name="">
            <a:extLst xmlns:a="http://schemas.openxmlformats.org/drawingml/2006/main">
              <a:ext uri="{FF2B5EF4-FFF2-40B4-BE49-F238E27FC236}">
                <a16:creationId xmlns:a16="http://schemas.microsoft.com/office/drawing/2014/main" id="{F7ABEAE0-4F34-454E-81D6-D03850375DC3}"/>
              </a:ext>
            </a:extLst>
          </p:cNvPr>
          <p:cNvSpPr>
            <a:spLocks xmlns:a="http://schemas.openxmlformats.org/drawingml/2006/main" noGrp="1"/>
          </p:cNvSpPr>
          <p:nvPr/>
        </p:nvSpPr>
        <p:spPr>
          <a:xfrm xmlns:a="http://schemas.openxmlformats.org/drawingml/2006/main">
            <a:off x="723900" y="742950"/>
            <a:ext cx="1074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10253B"/>
                </a:solidFill>
                <a:latin typeface="Inter"/>
                <a:ea typeface="Inter"/>
                <a:cs typeface="Inter"/>
              </a:defRPr>
            </a:pPr>
            <a:r>
              <a:rPr sz="3000" b="1">
                <a:solidFill>
                  <a:srgbClr val="10253B"/>
                </a:solidFill>
                <a:latin typeface="Inter"/>
                <a:ea typeface="Inter"/>
                <a:cs typeface="Inter"/>
              </a:rPr>
              <a:t>One governed record replaces the handoffs.</a:t>
            </a:r>
          </a:p>
        </p:txBody>
      </p:sp>
      <p:sp>
        <p:nvSpPr>
          <p:cNvPr id="4" name="">
            <a:extLst xmlns:a="http://schemas.openxmlformats.org/drawingml/2006/main">
              <a:ext uri="{FF2B5EF4-FFF2-40B4-BE49-F238E27FC236}">
                <a16:creationId xmlns:a16="http://schemas.microsoft.com/office/drawing/2014/main" id="{B33A458D-1993-4D2B-A2A1-768CF5E392ED}"/>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1477F8"/>
          </a:solidFill>
          <a:ln xmlns:a="http://schemas.openxmlformats.org/drawingml/2006/main" w="0">
            <a:solidFill>
              <a:srgbClr val="1477F8"/>
            </a:solidFill>
            <a:prstDash val="solid"/>
          </a:ln>
        </p:spPr>
      </p:sp>
      <p:sp>
        <p:nvSpPr>
          <p:cNvPr id="5" name="">
            <a:extLst xmlns:a="http://schemas.openxmlformats.org/drawingml/2006/main">
              <a:ext uri="{FF2B5EF4-FFF2-40B4-BE49-F238E27FC236}">
                <a16:creationId xmlns:a16="http://schemas.microsoft.com/office/drawing/2014/main" id="{835428DC-2CAF-492C-99D7-DA4241FA3BD4}"/>
              </a:ext>
            </a:extLst>
          </p:cNvPr>
          <p:cNvSpPr>
            <a:spLocks xmlns:a="http://schemas.openxmlformats.org/drawingml/2006/main" noGrp="1"/>
          </p:cNvSpPr>
          <p:nvPr/>
        </p:nvSpPr>
        <p:spPr>
          <a:xfrm xmlns:a="http://schemas.openxmlformats.org/drawingml/2006/main">
            <a:off x="676275" y="1952625"/>
            <a:ext cx="8458200" cy="400050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CBD9E7"/>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a15d55c8e744db4"/>
          <a:srcRect xmlns:a="http://schemas.openxmlformats.org/drawingml/2006/main" l="0" t="12642" r="0" b="12642"/>
          <a:stretch xmlns:a="http://schemas.openxmlformats.org/drawingml/2006/main">
            <a:fillRect l="0" t="0" r="0" b="0"/>
          </a:stretch>
        </p:blipFill>
        <p:spPr>
          <a:xfrm xmlns:a="http://schemas.openxmlformats.org/drawingml/2006/main">
            <a:off x="723900" y="2000250"/>
            <a:ext cx="836295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00220B30-D2C5-472C-9E69-CDB9901FACF9}"/>
              </a:ext>
            </a:extLst>
          </p:cNvPr>
          <p:cNvSpPr>
            <a:spLocks xmlns:a="http://schemas.openxmlformats.org/drawingml/2006/main" noGrp="1"/>
          </p:cNvSpPr>
          <p:nvPr/>
        </p:nvSpPr>
        <p:spPr>
          <a:xfrm xmlns:a="http://schemas.openxmlformats.org/drawingml/2006/main">
            <a:off x="9525000" y="21336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477F8"/>
                </a:solidFill>
                <a:latin typeface="Inter"/>
                <a:ea typeface="Inter"/>
                <a:cs typeface="Inter"/>
              </a:defRPr>
            </a:pPr>
            <a:r>
              <a:rPr sz="1050" b="1">
                <a:solidFill>
                  <a:srgbClr val="1477F8"/>
                </a:solidFill>
                <a:latin typeface="Inter"/>
                <a:ea typeface="Inter"/>
                <a:cs typeface="Inter"/>
              </a:rPr>
              <a:t>WORK</a:t>
            </a:r>
          </a:p>
        </p:txBody>
      </p:sp>
      <p:sp>
        <p:nvSpPr>
          <p:cNvPr id="8" name="">
            <a:extLst xmlns:a="http://schemas.openxmlformats.org/drawingml/2006/main">
              <a:ext uri="{FF2B5EF4-FFF2-40B4-BE49-F238E27FC236}">
                <a16:creationId xmlns:a16="http://schemas.microsoft.com/office/drawing/2014/main" id="{FAB81758-D265-4B88-AD29-57446704CA6E}"/>
              </a:ext>
            </a:extLst>
          </p:cNvPr>
          <p:cNvSpPr>
            <a:spLocks xmlns:a="http://schemas.openxmlformats.org/drawingml/2006/main" noGrp="1"/>
          </p:cNvSpPr>
          <p:nvPr/>
        </p:nvSpPr>
        <p:spPr>
          <a:xfrm xmlns:a="http://schemas.openxmlformats.org/drawingml/2006/main">
            <a:off x="9525000" y="2857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477F8"/>
                </a:solidFill>
                <a:latin typeface="Inter"/>
                <a:ea typeface="Inter"/>
                <a:cs typeface="Inter"/>
              </a:defRPr>
            </a:pPr>
            <a:r>
              <a:rPr sz="1050" b="1">
                <a:solidFill>
                  <a:srgbClr val="1477F8"/>
                </a:solidFill>
                <a:latin typeface="Inter"/>
                <a:ea typeface="Inter"/>
                <a:cs typeface="Inter"/>
              </a:rPr>
              <a:t>KNOWLEDGE</a:t>
            </a:r>
          </a:p>
        </p:txBody>
      </p:sp>
      <p:sp>
        <p:nvSpPr>
          <p:cNvPr id="9" name="">
            <a:extLst xmlns:a="http://schemas.openxmlformats.org/drawingml/2006/main">
              <a:ext uri="{FF2B5EF4-FFF2-40B4-BE49-F238E27FC236}">
                <a16:creationId xmlns:a16="http://schemas.microsoft.com/office/drawing/2014/main" id="{E9DB056D-F748-47FF-821D-F47F9C8A3F80}"/>
              </a:ext>
            </a:extLst>
          </p:cNvPr>
          <p:cNvSpPr>
            <a:spLocks xmlns:a="http://schemas.openxmlformats.org/drawingml/2006/main" noGrp="1"/>
          </p:cNvSpPr>
          <p:nvPr/>
        </p:nvSpPr>
        <p:spPr>
          <a:xfrm xmlns:a="http://schemas.openxmlformats.org/drawingml/2006/main">
            <a:off x="9525000" y="3581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477F8"/>
                </a:solidFill>
                <a:latin typeface="Inter"/>
                <a:ea typeface="Inter"/>
                <a:cs typeface="Inter"/>
              </a:defRPr>
            </a:pPr>
            <a:r>
              <a:rPr sz="1050" b="1">
                <a:solidFill>
                  <a:srgbClr val="1477F8"/>
                </a:solidFill>
                <a:latin typeface="Inter"/>
                <a:ea typeface="Inter"/>
                <a:cs typeface="Inter"/>
              </a:rPr>
              <a:t>DECISION</a:t>
            </a:r>
          </a:p>
        </p:txBody>
      </p:sp>
      <p:sp>
        <p:nvSpPr>
          <p:cNvPr id="10" name="">
            <a:extLst xmlns:a="http://schemas.openxmlformats.org/drawingml/2006/main">
              <a:ext uri="{FF2B5EF4-FFF2-40B4-BE49-F238E27FC236}">
                <a16:creationId xmlns:a16="http://schemas.microsoft.com/office/drawing/2014/main" id="{750F1509-2E35-4581-83A9-6643EF4E6E4D}"/>
              </a:ext>
            </a:extLst>
          </p:cNvPr>
          <p:cNvSpPr>
            <a:spLocks xmlns:a="http://schemas.openxmlformats.org/drawingml/2006/main" noGrp="1"/>
          </p:cNvSpPr>
          <p:nvPr/>
        </p:nvSpPr>
        <p:spPr>
          <a:xfrm xmlns:a="http://schemas.openxmlformats.org/drawingml/2006/main">
            <a:off x="9525000" y="4305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477F8"/>
                </a:solidFill>
                <a:latin typeface="Inter"/>
                <a:ea typeface="Inter"/>
                <a:cs typeface="Inter"/>
              </a:defRPr>
            </a:pPr>
            <a:r>
              <a:rPr sz="1050" b="1">
                <a:solidFill>
                  <a:srgbClr val="1477F8"/>
                </a:solidFill>
                <a:latin typeface="Inter"/>
                <a:ea typeface="Inter"/>
                <a:cs typeface="Inter"/>
              </a:rPr>
              <a:t>READOUT</a:t>
            </a:r>
          </a:p>
        </p:txBody>
      </p:sp>
      <p:sp>
        <p:nvSpPr>
          <p:cNvPr id="11" name="">
            <a:extLst xmlns:a="http://schemas.openxmlformats.org/drawingml/2006/main">
              <a:ext uri="{FF2B5EF4-FFF2-40B4-BE49-F238E27FC236}">
                <a16:creationId xmlns:a16="http://schemas.microsoft.com/office/drawing/2014/main" id="{B3689A54-57D0-41D8-A8C5-405F63C1445D}"/>
              </a:ext>
            </a:extLst>
          </p:cNvPr>
          <p:cNvSpPr>
            <a:spLocks xmlns:a="http://schemas.openxmlformats.org/drawingml/2006/main" noGrp="1"/>
          </p:cNvSpPr>
          <p:nvPr/>
        </p:nvSpPr>
        <p:spPr>
          <a:xfrm xmlns:a="http://schemas.openxmlformats.org/drawingml/2006/main">
            <a:off x="10134600" y="2533650"/>
            <a:ext cx="323850" cy="228600"/>
          </a:xfrm>
          <a:prstGeom xmlns:a="http://schemas.openxmlformats.org/drawingml/2006/main" prst="downArrow">
            <a:avLst/>
          </a:prstGeom>
          <a:solidFill xmlns:a="http://schemas.openxmlformats.org/drawingml/2006/main">
            <a:srgbClr val="CBD9E7"/>
          </a:solidFill>
          <a:ln xmlns:a="http://schemas.openxmlformats.org/drawingml/2006/main" w="0">
            <a:solidFill>
              <a:srgbClr val="CBD9E7"/>
            </a:solidFill>
            <a:prstDash val="solid"/>
          </a:ln>
        </p:spPr>
      </p:sp>
      <p:sp>
        <p:nvSpPr>
          <p:cNvPr id="12" name="">
            <a:extLst xmlns:a="http://schemas.openxmlformats.org/drawingml/2006/main">
              <a:ext uri="{FF2B5EF4-FFF2-40B4-BE49-F238E27FC236}">
                <a16:creationId xmlns:a16="http://schemas.microsoft.com/office/drawing/2014/main" id="{1D7D0C2E-996E-47DB-85B3-381CB02FE477}"/>
              </a:ext>
            </a:extLst>
          </p:cNvPr>
          <p:cNvSpPr>
            <a:spLocks xmlns:a="http://schemas.openxmlformats.org/drawingml/2006/main" noGrp="1"/>
          </p:cNvSpPr>
          <p:nvPr/>
        </p:nvSpPr>
        <p:spPr>
          <a:xfrm xmlns:a="http://schemas.openxmlformats.org/drawingml/2006/main">
            <a:off x="10134600" y="3257550"/>
            <a:ext cx="323850" cy="228600"/>
          </a:xfrm>
          <a:prstGeom xmlns:a="http://schemas.openxmlformats.org/drawingml/2006/main" prst="downArrow">
            <a:avLst/>
          </a:prstGeom>
          <a:solidFill xmlns:a="http://schemas.openxmlformats.org/drawingml/2006/main">
            <a:srgbClr val="CBD9E7"/>
          </a:solidFill>
          <a:ln xmlns:a="http://schemas.openxmlformats.org/drawingml/2006/main" w="0">
            <a:solidFill>
              <a:srgbClr val="CBD9E7"/>
            </a:solidFill>
            <a:prstDash val="solid"/>
          </a:ln>
        </p:spPr>
      </p:sp>
      <p:sp>
        <p:nvSpPr>
          <p:cNvPr id="13" name="">
            <a:extLst xmlns:a="http://schemas.openxmlformats.org/drawingml/2006/main">
              <a:ext uri="{FF2B5EF4-FFF2-40B4-BE49-F238E27FC236}">
                <a16:creationId xmlns:a16="http://schemas.microsoft.com/office/drawing/2014/main" id="{E9A2F359-EAD4-4001-8013-3B21C26A3343}"/>
              </a:ext>
            </a:extLst>
          </p:cNvPr>
          <p:cNvSpPr>
            <a:spLocks xmlns:a="http://schemas.openxmlformats.org/drawingml/2006/main" noGrp="1"/>
          </p:cNvSpPr>
          <p:nvPr/>
        </p:nvSpPr>
        <p:spPr>
          <a:xfrm xmlns:a="http://schemas.openxmlformats.org/drawingml/2006/main">
            <a:off x="10134600" y="3981450"/>
            <a:ext cx="323850" cy="228600"/>
          </a:xfrm>
          <a:prstGeom xmlns:a="http://schemas.openxmlformats.org/drawingml/2006/main" prst="downArrow">
            <a:avLst/>
          </a:prstGeom>
          <a:solidFill xmlns:a="http://schemas.openxmlformats.org/drawingml/2006/main">
            <a:srgbClr val="CBD9E7"/>
          </a:solidFill>
          <a:ln xmlns:a="http://schemas.openxmlformats.org/drawingml/2006/main" w="0">
            <a:solidFill>
              <a:srgbClr val="CBD9E7"/>
            </a:solidFill>
            <a:prstDash val="solid"/>
          </a:ln>
        </p:spPr>
      </p:sp>
      <p:sp>
        <p:nvSpPr>
          <p:cNvPr id="14" name="">
            <a:extLst xmlns:a="http://schemas.openxmlformats.org/drawingml/2006/main">
              <a:ext uri="{FF2B5EF4-FFF2-40B4-BE49-F238E27FC236}">
                <a16:creationId xmlns:a16="http://schemas.microsoft.com/office/drawing/2014/main" id="{C77CC25F-D210-443D-BB30-614DB64ACBF2}"/>
              </a:ext>
            </a:extLst>
          </p:cNvPr>
          <p:cNvSpPr>
            <a:spLocks xmlns:a="http://schemas.openxmlformats.org/drawingml/2006/main" noGrp="1"/>
          </p:cNvSpPr>
          <p:nvPr/>
        </p:nvSpPr>
        <p:spPr>
          <a:xfrm xmlns:a="http://schemas.openxmlformats.org/drawingml/2006/main">
            <a:off x="9467850" y="5010150"/>
            <a:ext cx="2000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31"/>
          </a:bodyPr>
          <a:lstStyle xmlns:a="http://schemas.openxmlformats.org/drawingml/2006/main"/>
          <a:p xmlns:a="http://schemas.openxmlformats.org/drawingml/2006/main">
            <a:pPr algn="l">
              <a:lnSpc>
                <a:spcPct val="110000"/>
              </a:lnSpc>
              <a:buNone/>
              <a:defRPr sz="1575" b="1">
                <a:solidFill>
                  <a:srgbClr val="10253B"/>
                </a:solidFill>
                <a:latin typeface="Inter"/>
                <a:ea typeface="Inter"/>
                <a:cs typeface="Inter"/>
              </a:defRPr>
            </a:pPr>
            <a:r>
              <a:rPr sz="1575" b="1">
                <a:solidFill>
                  <a:srgbClr val="10253B"/>
                </a:solidFill>
                <a:latin typeface="Inter"/>
                <a:ea typeface="Inter"/>
                <a:cs typeface="Inter"/>
              </a:rPr>
              <a:t>One update.</a:t>
            </a:r>
          </a:p>
          <a:p xmlns:a="http://schemas.openxmlformats.org/drawingml/2006/main">
            <a:pPr algn="l">
              <a:lnSpc>
                <a:spcPct val="110000"/>
              </a:lnSpc>
              <a:buNone/>
              <a:defRPr sz="1575" b="1">
                <a:solidFill>
                  <a:srgbClr val="10253B"/>
                </a:solidFill>
                <a:latin typeface="Inter"/>
                <a:ea typeface="Inter"/>
                <a:cs typeface="Inter"/>
              </a:defRPr>
            </a:pPr>
            <a:r>
              <a:rPr sz="1575" b="1">
                <a:solidFill>
                  <a:srgbClr val="10253B"/>
                </a:solidFill>
                <a:latin typeface="Inter"/>
                <a:ea typeface="Inter"/>
                <a:cs typeface="Inter"/>
              </a:rPr>
              <a:t>One history.</a:t>
            </a:r>
          </a:p>
          <a:p xmlns:a="http://schemas.openxmlformats.org/drawingml/2006/main">
            <a:pPr algn="l">
              <a:lnSpc>
                <a:spcPct val="110000"/>
              </a:lnSpc>
              <a:buNone/>
              <a:defRPr sz="1575" b="1">
                <a:solidFill>
                  <a:srgbClr val="10253B"/>
                </a:solidFill>
                <a:latin typeface="Inter"/>
                <a:ea typeface="Inter"/>
                <a:cs typeface="Inter"/>
              </a:defRPr>
            </a:pPr>
            <a:r>
              <a:rPr sz="1575" b="1">
                <a:solidFill>
                  <a:srgbClr val="10253B"/>
                </a:solidFill>
                <a:latin typeface="Inter"/>
                <a:ea typeface="Inter"/>
                <a:cs typeface="Inter"/>
              </a:rPr>
              <a:t>One operating picture.</a:t>
            </a:r>
          </a:p>
        </p:txBody>
      </p:sp>
      <p:sp>
        <p:nvSpPr>
          <p:cNvPr id="15" name="">
            <a:extLst xmlns:a="http://schemas.openxmlformats.org/drawingml/2006/main">
              <a:ext uri="{FF2B5EF4-FFF2-40B4-BE49-F238E27FC236}">
                <a16:creationId xmlns:a16="http://schemas.microsoft.com/office/drawing/2014/main" id="{4D99BE24-BA59-499C-936B-044EE720E777}"/>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C7084"/>
                </a:solidFill>
                <a:latin typeface="Inter"/>
                <a:ea typeface="Inter"/>
                <a:cs typeface="Inter"/>
              </a:defRPr>
            </a:pPr>
            <a:r>
              <a:rPr sz="825" b="1">
                <a:solidFill>
                  <a:srgbClr val="5C7084"/>
                </a:solidFill>
                <a:latin typeface="Inter"/>
                <a:ea typeface="Inter"/>
                <a:cs typeface="Inter"/>
              </a:rPr>
              <a:t>CONCEPT DEMO — SYNTHETIC DATA</a:t>
            </a:r>
          </a:p>
        </p:txBody>
      </p:sp>
    </p:spTree>
    <p:extLst>
      <p:ext uri="{BB962C8B-B14F-4D97-AF65-F5344CB8AC3E}">
        <p14:creationId xmlns:p14="http://schemas.microsoft.com/office/powerpoint/2010/main" val="344452350"/>
      </p:ext>
    </p:extLst>
  </p:cSld>
</p:sld>
</file>

<file path=ppt/slides/slide3.xml><?xml version="1.0" encoding="utf-8"?>
<p:sld xmlns:p="http://schemas.openxmlformats.org/presentationml/2006/main">
  <p:cSld>
    <p:bg>
      <p:bgPr>
        <a:solidFill xmlns:a="http://schemas.openxmlformats.org/drawingml/2006/main">
          <a:srgbClr val="071A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FCFC52-0765-41BC-8357-8B32D5C55FA3}"/>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90D2FF"/>
                </a:solidFill>
                <a:latin typeface="Inter"/>
                <a:ea typeface="Inter"/>
                <a:cs typeface="Inter"/>
              </a:defRPr>
            </a:pPr>
            <a:r>
              <a:rPr sz="975" b="1">
                <a:solidFill>
                  <a:srgbClr val="90D2FF"/>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FB710404-8C46-49CF-A903-D7C6F9209E68}"/>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9CCE0"/>
                </a:solidFill>
                <a:latin typeface="Inter"/>
                <a:ea typeface="Inter"/>
                <a:cs typeface="Inter"/>
              </a:defRPr>
            </a:pPr>
            <a:r>
              <a:rPr sz="975" b="1">
                <a:solidFill>
                  <a:srgbClr val="B9CCE0"/>
                </a:solidFill>
                <a:latin typeface="Inter"/>
                <a:ea typeface="Inter"/>
                <a:cs typeface="Inter"/>
              </a:rPr>
              <a:t>03</a:t>
            </a:r>
          </a:p>
        </p:txBody>
      </p:sp>
      <p:sp>
        <p:nvSpPr>
          <p:cNvPr id="3" name="">
            <a:extLst xmlns:a="http://schemas.openxmlformats.org/drawingml/2006/main">
              <a:ext uri="{FF2B5EF4-FFF2-40B4-BE49-F238E27FC236}">
                <a16:creationId xmlns:a16="http://schemas.microsoft.com/office/drawing/2014/main" id="{EF5A50AC-B3B8-48C6-A248-6C1178A6985D}"/>
              </a:ext>
            </a:extLst>
          </p:cNvPr>
          <p:cNvSpPr>
            <a:spLocks xmlns:a="http://schemas.openxmlformats.org/drawingml/2006/main" noGrp="1"/>
          </p:cNvSpPr>
          <p:nvPr/>
        </p:nvSpPr>
        <p:spPr>
          <a:xfrm xmlns:a="http://schemas.openxmlformats.org/drawingml/2006/main">
            <a:off x="723900" y="742950"/>
            <a:ext cx="1057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FFFFFF"/>
                </a:solidFill>
                <a:latin typeface="Inter"/>
                <a:ea typeface="Inter"/>
                <a:cs typeface="Inter"/>
              </a:defRPr>
            </a:pPr>
            <a:r>
              <a:rPr sz="3000" b="1">
                <a:solidFill>
                  <a:srgbClr val="FFFFFF"/>
                </a:solidFill>
                <a:latin typeface="Inter"/>
                <a:ea typeface="Inter"/>
                <a:cs typeface="Inter"/>
              </a:rPr>
              <a:t>Leadership sees the intervention—not another dashboard.</a:t>
            </a:r>
          </a:p>
        </p:txBody>
      </p:sp>
      <p:sp>
        <p:nvSpPr>
          <p:cNvPr id="4" name="">
            <a:extLst xmlns:a="http://schemas.openxmlformats.org/drawingml/2006/main">
              <a:ext uri="{FF2B5EF4-FFF2-40B4-BE49-F238E27FC236}">
                <a16:creationId xmlns:a16="http://schemas.microsoft.com/office/drawing/2014/main" id="{EEF80724-8963-42C8-9C2C-4F22A1573430}"/>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5" name="">
            <a:extLst xmlns:a="http://schemas.openxmlformats.org/drawingml/2006/main">
              <a:ext uri="{FF2B5EF4-FFF2-40B4-BE49-F238E27FC236}">
                <a16:creationId xmlns:a16="http://schemas.microsoft.com/office/drawing/2014/main" id="{B1AF9438-32AA-4449-94A1-C78BEEE69543}"/>
              </a:ext>
            </a:extLst>
          </p:cNvPr>
          <p:cNvSpPr>
            <a:spLocks xmlns:a="http://schemas.openxmlformats.org/drawingml/2006/main" noGrp="1"/>
          </p:cNvSpPr>
          <p:nvPr/>
        </p:nvSpPr>
        <p:spPr>
          <a:xfrm xmlns:a="http://schemas.openxmlformats.org/drawingml/2006/main">
            <a:off x="723900" y="2152650"/>
            <a:ext cx="47625" cy="723900"/>
          </a:xfrm>
          <a:prstGeom xmlns:a="http://schemas.openxmlformats.org/drawingml/2006/main" prst="rect">
            <a:avLst/>
          </a:prstGeom>
          <a:solidFill xmlns:a="http://schemas.openxmlformats.org/drawingml/2006/main">
            <a:srgbClr val="F3A712"/>
          </a:solidFill>
          <a:ln xmlns:a="http://schemas.openxmlformats.org/drawingml/2006/main" w="0">
            <a:solidFill>
              <a:srgbClr val="F3A712"/>
            </a:solidFill>
            <a:prstDash val="solid"/>
          </a:ln>
        </p:spPr>
      </p:sp>
      <p:sp>
        <p:nvSpPr>
          <p:cNvPr id="6" name="">
            <a:extLst xmlns:a="http://schemas.openxmlformats.org/drawingml/2006/main">
              <a:ext uri="{FF2B5EF4-FFF2-40B4-BE49-F238E27FC236}">
                <a16:creationId xmlns:a16="http://schemas.microsoft.com/office/drawing/2014/main" id="{BB34E4D6-4AC2-4B45-9203-2AD3B07E4EA6}"/>
              </a:ext>
            </a:extLst>
          </p:cNvPr>
          <p:cNvSpPr>
            <a:spLocks xmlns:a="http://schemas.openxmlformats.org/drawingml/2006/main" noGrp="1"/>
          </p:cNvSpPr>
          <p:nvPr/>
        </p:nvSpPr>
        <p:spPr>
          <a:xfrm xmlns:a="http://schemas.openxmlformats.org/drawingml/2006/main">
            <a:off x="895350" y="21526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B9CCE0"/>
                </a:solidFill>
                <a:latin typeface="Inter"/>
                <a:ea typeface="Inter"/>
                <a:cs typeface="Inter"/>
              </a:defRPr>
            </a:pPr>
            <a:r>
              <a:rPr sz="900" b="1">
                <a:solidFill>
                  <a:srgbClr val="B9CCE0"/>
                </a:solidFill>
                <a:latin typeface="Inter"/>
                <a:ea typeface="Inter"/>
                <a:cs typeface="Inter"/>
              </a:rPr>
              <a:t>PROJECT SIGNAL</a:t>
            </a:r>
          </a:p>
        </p:txBody>
      </p:sp>
      <p:sp>
        <p:nvSpPr>
          <p:cNvPr id="7" name="">
            <a:extLst xmlns:a="http://schemas.openxmlformats.org/drawingml/2006/main">
              <a:ext uri="{FF2B5EF4-FFF2-40B4-BE49-F238E27FC236}">
                <a16:creationId xmlns:a16="http://schemas.microsoft.com/office/drawing/2014/main" id="{37EAA05E-B60E-448E-A78D-F87C73645282}"/>
              </a:ext>
            </a:extLst>
          </p:cNvPr>
          <p:cNvSpPr>
            <a:spLocks xmlns:a="http://schemas.openxmlformats.org/drawingml/2006/main" noGrp="1"/>
          </p:cNvSpPr>
          <p:nvPr/>
        </p:nvSpPr>
        <p:spPr>
          <a:xfrm xmlns:a="http://schemas.openxmlformats.org/drawingml/2006/main">
            <a:off x="895350" y="2381250"/>
            <a:ext cx="297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29"/>
          </a:bodyPr>
          <a:lstStyle xmlns:a="http://schemas.openxmlformats.org/drawingml/2006/main"/>
          <a:p xmlns:a="http://schemas.openxmlformats.org/drawingml/2006/main">
            <a:pPr algn="l">
              <a:lnSpc>
                <a:spcPct val="95000"/>
              </a:lnSpc>
              <a:buNone/>
              <a:defRPr sz="1800" b="1">
                <a:solidFill>
                  <a:srgbClr val="FFFFFF"/>
                </a:solidFill>
                <a:latin typeface="Inter"/>
                <a:ea typeface="Inter"/>
                <a:cs typeface="Inter"/>
              </a:defRPr>
            </a:pPr>
            <a:r>
              <a:rPr sz="1800" b="1">
                <a:solidFill>
                  <a:srgbClr val="FFFFFF"/>
                </a:solidFill>
                <a:latin typeface="Inter"/>
                <a:ea typeface="Inter"/>
                <a:cs typeface="Inter"/>
              </a:rPr>
              <a:t>SENTINEL MESH NODE</a:t>
            </a:r>
          </a:p>
          <a:p xmlns:a="http://schemas.openxmlformats.org/drawingml/2006/main">
            <a:pPr algn="l">
              <a:lnSpc>
                <a:spcPct val="95000"/>
              </a:lnSpc>
              <a:buNone/>
              <a:defRPr sz="1800" b="1">
                <a:solidFill>
                  <a:srgbClr val="FFFFFF"/>
                </a:solidFill>
                <a:latin typeface="Inter"/>
                <a:ea typeface="Inter"/>
                <a:cs typeface="Inter"/>
              </a:defRPr>
            </a:pPr>
            <a:r>
              <a:rPr sz="1800" b="1">
                <a:solidFill>
                  <a:srgbClr val="FFFFFF"/>
                </a:solidFill>
                <a:latin typeface="Inter"/>
                <a:ea typeface="Inter"/>
                <a:cs typeface="Inter"/>
              </a:rPr>
              <a:t>AMBER</a:t>
            </a:r>
          </a:p>
        </p:txBody>
      </p:sp>
      <p:sp>
        <p:nvSpPr>
          <p:cNvPr id="8" name="">
            <a:extLst xmlns:a="http://schemas.openxmlformats.org/drawingml/2006/main">
              <a:ext uri="{FF2B5EF4-FFF2-40B4-BE49-F238E27FC236}">
                <a16:creationId xmlns:a16="http://schemas.microsoft.com/office/drawing/2014/main" id="{00B4D445-92ED-4C54-970D-B4CB9C0A62A8}"/>
              </a:ext>
            </a:extLst>
          </p:cNvPr>
          <p:cNvSpPr>
            <a:spLocks xmlns:a="http://schemas.openxmlformats.org/drawingml/2006/main" noGrp="1"/>
          </p:cNvSpPr>
          <p:nvPr/>
        </p:nvSpPr>
        <p:spPr>
          <a:xfrm xmlns:a="http://schemas.openxmlformats.org/drawingml/2006/main">
            <a:off x="723900" y="3219450"/>
            <a:ext cx="47625" cy="685800"/>
          </a:xfrm>
          <a:prstGeom xmlns:a="http://schemas.openxmlformats.org/drawingml/2006/main" prst="rect">
            <a:avLst/>
          </a:prstGeom>
          <a:solidFill xmlns:a="http://schemas.openxmlformats.org/drawingml/2006/main">
            <a:srgbClr val="F3A712"/>
          </a:solidFill>
          <a:ln xmlns:a="http://schemas.openxmlformats.org/drawingml/2006/main" w="0">
            <a:solidFill>
              <a:srgbClr val="F3A712"/>
            </a:solidFill>
            <a:prstDash val="solid"/>
          </a:ln>
        </p:spPr>
      </p:sp>
      <p:sp>
        <p:nvSpPr>
          <p:cNvPr id="9" name="">
            <a:extLst xmlns:a="http://schemas.openxmlformats.org/drawingml/2006/main">
              <a:ext uri="{FF2B5EF4-FFF2-40B4-BE49-F238E27FC236}">
                <a16:creationId xmlns:a16="http://schemas.microsoft.com/office/drawing/2014/main" id="{A3A929AA-A98A-4008-A956-AC1C4A09662A}"/>
              </a:ext>
            </a:extLst>
          </p:cNvPr>
          <p:cNvSpPr>
            <a:spLocks xmlns:a="http://schemas.openxmlformats.org/drawingml/2006/main" noGrp="1"/>
          </p:cNvSpPr>
          <p:nvPr/>
        </p:nvSpPr>
        <p:spPr>
          <a:xfrm xmlns:a="http://schemas.openxmlformats.org/drawingml/2006/main">
            <a:off x="895350" y="32194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B9CCE0"/>
                </a:solidFill>
                <a:latin typeface="Inter"/>
                <a:ea typeface="Inter"/>
                <a:cs typeface="Inter"/>
              </a:defRPr>
            </a:pPr>
            <a:r>
              <a:rPr sz="900" b="1">
                <a:solidFill>
                  <a:srgbClr val="B9CCE0"/>
                </a:solidFill>
                <a:latin typeface="Inter"/>
                <a:ea typeface="Inter"/>
                <a:cs typeface="Inter"/>
              </a:rPr>
              <a:t>MILESTONE EXPOSURE</a:t>
            </a:r>
          </a:p>
        </p:txBody>
      </p:sp>
      <p:sp>
        <p:nvSpPr>
          <p:cNvPr id="10" name="">
            <a:extLst xmlns:a="http://schemas.openxmlformats.org/drawingml/2006/main">
              <a:ext uri="{FF2B5EF4-FFF2-40B4-BE49-F238E27FC236}">
                <a16:creationId xmlns:a16="http://schemas.microsoft.com/office/drawing/2014/main" id="{F5FD6024-2120-4E7C-A70C-7F82968A1FD2}"/>
              </a:ext>
            </a:extLst>
          </p:cNvPr>
          <p:cNvSpPr>
            <a:spLocks xmlns:a="http://schemas.openxmlformats.org/drawingml/2006/main" noGrp="1"/>
          </p:cNvSpPr>
          <p:nvPr/>
        </p:nvSpPr>
        <p:spPr>
          <a:xfrm xmlns:a="http://schemas.openxmlformats.org/drawingml/2006/main">
            <a:off x="895350" y="3448050"/>
            <a:ext cx="297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00" b="1">
                <a:solidFill>
                  <a:srgbClr val="FFFFFF"/>
                </a:solidFill>
                <a:latin typeface="Inter"/>
                <a:ea typeface="Inter"/>
                <a:cs typeface="Inter"/>
              </a:defRPr>
            </a:pPr>
            <a:r>
              <a:rPr sz="1800" b="1">
                <a:solidFill>
                  <a:srgbClr val="FFFFFF"/>
                </a:solidFill>
                <a:latin typeface="Inter"/>
                <a:ea typeface="Inter"/>
                <a:cs typeface="Inter"/>
              </a:rPr>
              <a:t>18 DAYS</a:t>
            </a:r>
          </a:p>
        </p:txBody>
      </p:sp>
      <p:sp>
        <p:nvSpPr>
          <p:cNvPr id="11" name="">
            <a:extLst xmlns:a="http://schemas.openxmlformats.org/drawingml/2006/main">
              <a:ext uri="{FF2B5EF4-FFF2-40B4-BE49-F238E27FC236}">
                <a16:creationId xmlns:a16="http://schemas.microsoft.com/office/drawing/2014/main" id="{9938C8C5-763F-43C6-91E8-478E9E9C0A37}"/>
              </a:ext>
            </a:extLst>
          </p:cNvPr>
          <p:cNvSpPr>
            <a:spLocks xmlns:a="http://schemas.openxmlformats.org/drawingml/2006/main" noGrp="1"/>
          </p:cNvSpPr>
          <p:nvPr/>
        </p:nvSpPr>
        <p:spPr>
          <a:xfrm xmlns:a="http://schemas.openxmlformats.org/drawingml/2006/main">
            <a:off x="723900" y="4267200"/>
            <a:ext cx="47625" cy="762000"/>
          </a:xfrm>
          <a:prstGeom xmlns:a="http://schemas.openxmlformats.org/drawingml/2006/main" prst="rect">
            <a:avLst/>
          </a:prstGeom>
          <a:solidFill xmlns:a="http://schemas.openxmlformats.org/drawingml/2006/main">
            <a:srgbClr val="1477F8"/>
          </a:solidFill>
          <a:ln xmlns:a="http://schemas.openxmlformats.org/drawingml/2006/main" w="0">
            <a:solidFill>
              <a:srgbClr val="1477F8"/>
            </a:solidFill>
            <a:prstDash val="solid"/>
          </a:ln>
        </p:spPr>
      </p:sp>
      <p:sp>
        <p:nvSpPr>
          <p:cNvPr id="12" name="">
            <a:extLst xmlns:a="http://schemas.openxmlformats.org/drawingml/2006/main">
              <a:ext uri="{FF2B5EF4-FFF2-40B4-BE49-F238E27FC236}">
                <a16:creationId xmlns:a16="http://schemas.microsoft.com/office/drawing/2014/main" id="{E653B9D0-8A11-4E3A-9498-98007DDDEFBA}"/>
              </a:ext>
            </a:extLst>
          </p:cNvPr>
          <p:cNvSpPr>
            <a:spLocks xmlns:a="http://schemas.openxmlformats.org/drawingml/2006/main" noGrp="1"/>
          </p:cNvSpPr>
          <p:nvPr/>
        </p:nvSpPr>
        <p:spPr>
          <a:xfrm xmlns:a="http://schemas.openxmlformats.org/drawingml/2006/main">
            <a:off x="895350" y="426720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B9CCE0"/>
                </a:solidFill>
                <a:latin typeface="Inter"/>
                <a:ea typeface="Inter"/>
                <a:cs typeface="Inter"/>
              </a:defRPr>
            </a:pPr>
            <a:r>
              <a:rPr sz="900" b="1">
                <a:solidFill>
                  <a:srgbClr val="B9CCE0"/>
                </a:solidFill>
                <a:latin typeface="Inter"/>
                <a:ea typeface="Inter"/>
                <a:cs typeface="Inter"/>
              </a:rPr>
              <a:t>DECISION NEEDED</a:t>
            </a:r>
          </a:p>
        </p:txBody>
      </p:sp>
      <p:sp>
        <p:nvSpPr>
          <p:cNvPr id="13" name="">
            <a:extLst xmlns:a="http://schemas.openxmlformats.org/drawingml/2006/main">
              <a:ext uri="{FF2B5EF4-FFF2-40B4-BE49-F238E27FC236}">
                <a16:creationId xmlns:a16="http://schemas.microsoft.com/office/drawing/2014/main" id="{BA63DFA4-39A2-4FBE-84F0-B90F03D2DF05}"/>
              </a:ext>
            </a:extLst>
          </p:cNvPr>
          <p:cNvSpPr>
            <a:spLocks xmlns:a="http://schemas.openxmlformats.org/drawingml/2006/main" noGrp="1"/>
          </p:cNvSpPr>
          <p:nvPr/>
        </p:nvSpPr>
        <p:spPr>
          <a:xfrm xmlns:a="http://schemas.openxmlformats.org/drawingml/2006/main">
            <a:off x="895350" y="4495800"/>
            <a:ext cx="297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00" b="1">
                <a:solidFill>
                  <a:srgbClr val="FFFFFF"/>
                </a:solidFill>
                <a:latin typeface="Inter"/>
                <a:ea typeface="Inter"/>
                <a:cs typeface="Inter"/>
              </a:defRPr>
            </a:pPr>
            <a:r>
              <a:rPr sz="1800" b="1">
                <a:solidFill>
                  <a:srgbClr val="FFFFFF"/>
                </a:solidFill>
                <a:latin typeface="Inter"/>
                <a:ea typeface="Inter"/>
                <a:cs typeface="Inter"/>
              </a:rPr>
              <a:t>Approve a recovery path</a:t>
            </a:r>
          </a:p>
        </p:txBody>
      </p:sp>
      <p:sp>
        <p:nvSpPr>
          <p:cNvPr id="14" name="">
            <a:extLst xmlns:a="http://schemas.openxmlformats.org/drawingml/2006/main">
              <a:ext uri="{FF2B5EF4-FFF2-40B4-BE49-F238E27FC236}">
                <a16:creationId xmlns:a16="http://schemas.microsoft.com/office/drawing/2014/main" id="{3EA6A35B-90C8-4BE0-A84F-58579052DBB5}"/>
              </a:ext>
            </a:extLst>
          </p:cNvPr>
          <p:cNvSpPr>
            <a:spLocks xmlns:a="http://schemas.openxmlformats.org/drawingml/2006/main" noGrp="1"/>
          </p:cNvSpPr>
          <p:nvPr/>
        </p:nvSpPr>
        <p:spPr>
          <a:xfrm xmlns:a="http://schemas.openxmlformats.org/drawingml/2006/main">
            <a:off x="723900" y="54102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a:solidFill>
                  <a:srgbClr val="C4D5E6"/>
                </a:solidFill>
                <a:latin typeface="Inter"/>
                <a:ea typeface="Inter"/>
                <a:cs typeface="Inter"/>
              </a:defRPr>
            </a:pPr>
            <a:r>
              <a:rPr sz="1350" b="0">
                <a:solidFill>
                  <a:srgbClr val="C4D5E6"/>
                </a:solidFill>
                <a:latin typeface="Inter"/>
                <a:ea typeface="Inter"/>
                <a:cs typeface="Inter"/>
              </a:rPr>
              <a:t>Certification delay threatens the demonstration milestone.</a:t>
            </a:r>
          </a:p>
        </p:txBody>
      </p:sp>
      <p:sp>
        <p:nvSpPr>
          <p:cNvPr id="15" name="">
            <a:extLst xmlns:a="http://schemas.openxmlformats.org/drawingml/2006/main">
              <a:ext uri="{FF2B5EF4-FFF2-40B4-BE49-F238E27FC236}">
                <a16:creationId xmlns:a16="http://schemas.microsoft.com/office/drawing/2014/main" id="{73596594-73D1-46BB-BCC1-7143E39F2149}"/>
              </a:ext>
            </a:extLst>
          </p:cNvPr>
          <p:cNvSpPr>
            <a:spLocks xmlns:a="http://schemas.openxmlformats.org/drawingml/2006/main" noGrp="1"/>
          </p:cNvSpPr>
          <p:nvPr/>
        </p:nvSpPr>
        <p:spPr>
          <a:xfrm xmlns:a="http://schemas.openxmlformats.org/drawingml/2006/main">
            <a:off x="4238625" y="1952625"/>
            <a:ext cx="7315200" cy="4152900"/>
          </a:xfrm>
          <a:prstGeom xmlns:a="http://schemas.openxmlformats.org/drawingml/2006/main" prst="roundRect">
            <a:avLst>
              <a:gd name="adj" fmla="val 3670"/>
            </a:avLst>
          </a:prstGeom>
          <a:solidFill xmlns:a="http://schemas.openxmlformats.org/drawingml/2006/main">
            <a:srgbClr val="0B2947"/>
          </a:solidFill>
          <a:ln xmlns:a="http://schemas.openxmlformats.org/drawingml/2006/main" w="9525">
            <a:solidFill>
              <a:srgbClr val="214B70"/>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a8a03ec81554a87"/>
          <a:srcRect xmlns:a="http://schemas.openxmlformats.org/drawingml/2006/main" l="0" t="5040" r="0" b="5040"/>
          <a:stretch xmlns:a="http://schemas.openxmlformats.org/drawingml/2006/main">
            <a:fillRect l="0" t="0" r="0" b="0"/>
          </a:stretch>
        </p:blipFill>
        <p:spPr>
          <a:xfrm xmlns:a="http://schemas.openxmlformats.org/drawingml/2006/main">
            <a:off x="4286250" y="2000250"/>
            <a:ext cx="7219950" cy="4057650"/>
          </a:xfrm>
          <a:prstGeom xmlns:a="http://schemas.openxmlformats.org/drawingml/2006/main" prst="roundRect">
            <a:avLst>
              <a:gd name="adj" fmla="val 2817"/>
            </a:avLst>
          </a:prstGeom>
        </p:spPr>
      </p:pic>
      <p:sp>
        <p:nvSpPr>
          <p:cNvPr id="17" name="">
            <a:extLst xmlns:a="http://schemas.openxmlformats.org/drawingml/2006/main">
              <a:ext uri="{FF2B5EF4-FFF2-40B4-BE49-F238E27FC236}">
                <a16:creationId xmlns:a16="http://schemas.microsoft.com/office/drawing/2014/main" id="{35F5F807-E94B-4C64-B359-99E2B650131D}"/>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B9CCE0"/>
                </a:solidFill>
                <a:latin typeface="Inter"/>
                <a:ea typeface="Inter"/>
                <a:cs typeface="Inter"/>
              </a:defRPr>
            </a:pPr>
            <a:r>
              <a:rPr sz="825" b="1">
                <a:solidFill>
                  <a:srgbClr val="B9CCE0"/>
                </a:solidFill>
                <a:latin typeface="Inter"/>
                <a:ea typeface="Inter"/>
                <a:cs typeface="Inter"/>
              </a:rPr>
              <a:t>CONCEPT DEMO — SYNTHETIC DATA</a:t>
            </a:r>
          </a:p>
        </p:txBody>
      </p:sp>
    </p:spTree>
    <p:extLst>
      <p:ext uri="{BB962C8B-B14F-4D97-AF65-F5344CB8AC3E}">
        <p14:creationId xmlns:p14="http://schemas.microsoft.com/office/powerpoint/2010/main" val="938277900"/>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910902C-E9E2-4731-BE3A-F1DA2818FD5D}"/>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1477F8"/>
                </a:solidFill>
                <a:latin typeface="Inter"/>
                <a:ea typeface="Inter"/>
                <a:cs typeface="Inter"/>
              </a:defRPr>
            </a:pPr>
            <a:r>
              <a:rPr sz="975" b="1">
                <a:solidFill>
                  <a:srgbClr val="1477F8"/>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2667AD7F-7738-40CC-B8A8-B20D28727183}"/>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04</a:t>
            </a:r>
          </a:p>
        </p:txBody>
      </p:sp>
      <p:sp>
        <p:nvSpPr>
          <p:cNvPr id="3" name="">
            <a:extLst xmlns:a="http://schemas.openxmlformats.org/drawingml/2006/main">
              <a:ext uri="{FF2B5EF4-FFF2-40B4-BE49-F238E27FC236}">
                <a16:creationId xmlns:a16="http://schemas.microsoft.com/office/drawing/2014/main" id="{6DDA2B50-901C-47C5-A3F0-FAB9D6ACBCD6}"/>
              </a:ext>
            </a:extLst>
          </p:cNvPr>
          <p:cNvSpPr>
            <a:spLocks xmlns:a="http://schemas.openxmlformats.org/drawingml/2006/main" noGrp="1"/>
          </p:cNvSpPr>
          <p:nvPr/>
        </p:nvSpPr>
        <p:spPr>
          <a:xfrm xmlns:a="http://schemas.openxmlformats.org/drawingml/2006/main">
            <a:off x="723900" y="7429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10253B"/>
                </a:solidFill>
                <a:latin typeface="Inter"/>
                <a:ea typeface="Inter"/>
                <a:cs typeface="Inter"/>
              </a:defRPr>
            </a:pPr>
            <a:r>
              <a:rPr sz="3000" b="1">
                <a:solidFill>
                  <a:srgbClr val="10253B"/>
                </a:solidFill>
                <a:latin typeface="Inter"/>
                <a:ea typeface="Inter"/>
                <a:cs typeface="Inter"/>
              </a:rPr>
              <a:t>Every signal opens to accountable work and evidence.</a:t>
            </a:r>
          </a:p>
        </p:txBody>
      </p:sp>
      <p:sp>
        <p:nvSpPr>
          <p:cNvPr id="4" name="">
            <a:extLst xmlns:a="http://schemas.openxmlformats.org/drawingml/2006/main">
              <a:ext uri="{FF2B5EF4-FFF2-40B4-BE49-F238E27FC236}">
                <a16:creationId xmlns:a16="http://schemas.microsoft.com/office/drawing/2014/main" id="{3DA5C75D-65BE-4628-820E-F89EE6257480}"/>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1477F8"/>
          </a:solidFill>
          <a:ln xmlns:a="http://schemas.openxmlformats.org/drawingml/2006/main" w="0">
            <a:solidFill>
              <a:srgbClr val="1477F8"/>
            </a:solidFill>
            <a:prstDash val="solid"/>
          </a:ln>
        </p:spPr>
      </p:sp>
      <p:sp>
        <p:nvSpPr>
          <p:cNvPr id="5" name="">
            <a:extLst xmlns:a="http://schemas.openxmlformats.org/drawingml/2006/main">
              <a:ext uri="{FF2B5EF4-FFF2-40B4-BE49-F238E27FC236}">
                <a16:creationId xmlns:a16="http://schemas.microsoft.com/office/drawing/2014/main" id="{BFF384A9-5526-45D8-8703-C8444CB551B0}"/>
              </a:ext>
            </a:extLst>
          </p:cNvPr>
          <p:cNvSpPr>
            <a:spLocks xmlns:a="http://schemas.openxmlformats.org/drawingml/2006/main" noGrp="1"/>
          </p:cNvSpPr>
          <p:nvPr/>
        </p:nvSpPr>
        <p:spPr>
          <a:xfrm xmlns:a="http://schemas.openxmlformats.org/drawingml/2006/main">
            <a:off x="676275" y="1952625"/>
            <a:ext cx="5791200" cy="3657600"/>
          </a:xfrm>
          <a:prstGeom xmlns:a="http://schemas.openxmlformats.org/drawingml/2006/main" prst="roundRect">
            <a:avLst>
              <a:gd name="adj" fmla="val 4167"/>
            </a:avLst>
          </a:prstGeom>
          <a:solidFill xmlns:a="http://schemas.openxmlformats.org/drawingml/2006/main">
            <a:srgbClr val="FFFFFF"/>
          </a:solidFill>
          <a:ln xmlns:a="http://schemas.openxmlformats.org/drawingml/2006/main" w="9525">
            <a:solidFill>
              <a:srgbClr val="CBD9E7"/>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a97ac10e9a843c2"/>
          <a:srcRect xmlns:a="http://schemas.openxmlformats.org/drawingml/2006/main" l="33" t="0" r="33" b="0"/>
          <a:stretch xmlns:a="http://schemas.openxmlformats.org/drawingml/2006/main">
            <a:fillRect l="0" t="0" r="0" b="0"/>
          </a:stretch>
        </p:blipFill>
        <p:spPr>
          <a:xfrm xmlns:a="http://schemas.openxmlformats.org/drawingml/2006/main">
            <a:off x="723900" y="2000250"/>
            <a:ext cx="5695950" cy="3562350"/>
          </a:xfrm>
          <a:prstGeom xmlns:a="http://schemas.openxmlformats.org/drawingml/2006/main" prst="roundRect">
            <a:avLst>
              <a:gd name="adj" fmla="val 3209"/>
            </a:avLst>
          </a:prstGeom>
        </p:spPr>
      </p:pic>
      <p:sp>
        <p:nvSpPr>
          <p:cNvPr id="7" name="">
            <a:extLst xmlns:a="http://schemas.openxmlformats.org/drawingml/2006/main">
              <a:ext uri="{FF2B5EF4-FFF2-40B4-BE49-F238E27FC236}">
                <a16:creationId xmlns:a16="http://schemas.microsoft.com/office/drawing/2014/main" id="{7A83EFD3-F335-48AA-9FD6-B85E7C4BD965}"/>
              </a:ext>
            </a:extLst>
          </p:cNvPr>
          <p:cNvSpPr>
            <a:spLocks xmlns:a="http://schemas.openxmlformats.org/drawingml/2006/main" noGrp="1"/>
          </p:cNvSpPr>
          <p:nvPr/>
        </p:nvSpPr>
        <p:spPr>
          <a:xfrm xmlns:a="http://schemas.openxmlformats.org/drawingml/2006/main">
            <a:off x="6619875" y="2409825"/>
            <a:ext cx="4933950" cy="32004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CBD9E7"/>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370ae55b80a4160"/>
          <a:srcRect xmlns:a="http://schemas.openxmlformats.org/drawingml/2006/main" l="1304" t="0" r="1304" b="0"/>
          <a:stretch xmlns:a="http://schemas.openxmlformats.org/drawingml/2006/main">
            <a:fillRect l="0" t="0" r="0" b="0"/>
          </a:stretch>
        </p:blipFill>
        <p:spPr>
          <a:xfrm xmlns:a="http://schemas.openxmlformats.org/drawingml/2006/main">
            <a:off x="6667500" y="2457450"/>
            <a:ext cx="4838700" cy="3105150"/>
          </a:xfrm>
          <a:prstGeom xmlns:a="http://schemas.openxmlformats.org/drawingml/2006/main" prst="roundRect">
            <a:avLst>
              <a:gd name="adj" fmla="val 3681"/>
            </a:avLst>
          </a:prstGeom>
        </p:spPr>
      </p:pic>
      <p:sp>
        <p:nvSpPr>
          <p:cNvPr id="9" name="">
            <a:extLst xmlns:a="http://schemas.openxmlformats.org/drawingml/2006/main">
              <a:ext uri="{FF2B5EF4-FFF2-40B4-BE49-F238E27FC236}">
                <a16:creationId xmlns:a16="http://schemas.microsoft.com/office/drawing/2014/main" id="{D162998D-9578-4950-B92F-6AFA6010E94D}"/>
              </a:ext>
            </a:extLst>
          </p:cNvPr>
          <p:cNvSpPr>
            <a:spLocks xmlns:a="http://schemas.openxmlformats.org/drawingml/2006/main" noGrp="1"/>
          </p:cNvSpPr>
          <p:nvPr/>
        </p:nvSpPr>
        <p:spPr>
          <a:xfrm xmlns:a="http://schemas.openxmlformats.org/drawingml/2006/main">
            <a:off x="5886450" y="1847850"/>
            <a:ext cx="1619250" cy="400050"/>
          </a:xfrm>
          <a:prstGeom xmlns:a="http://schemas.openxmlformats.org/drawingml/2006/main" prst="roundRect">
            <a:avLst>
              <a:gd name="adj" fmla="val 42857"/>
            </a:avLst>
          </a:prstGeom>
          <a:solidFill xmlns:a="http://schemas.openxmlformats.org/drawingml/2006/main">
            <a:srgbClr val="1477F8"/>
          </a:solidFill>
          <a:ln xmlns:a="http://schemas.openxmlformats.org/drawingml/2006/main" w="0">
            <a:solidFill>
              <a:srgbClr val="1477F8"/>
            </a:solidFill>
            <a:prstDash val="solid"/>
          </a:ln>
        </p:spPr>
      </p:sp>
      <p:sp>
        <p:nvSpPr>
          <p:cNvPr id="10" name="">
            <a:extLst xmlns:a="http://schemas.openxmlformats.org/drawingml/2006/main">
              <a:ext uri="{FF2B5EF4-FFF2-40B4-BE49-F238E27FC236}">
                <a16:creationId xmlns:a16="http://schemas.microsoft.com/office/drawing/2014/main" id="{ED40F924-51F1-4AF3-93E1-2F2011C1C9BF}"/>
              </a:ext>
            </a:extLst>
          </p:cNvPr>
          <p:cNvSpPr>
            <a:spLocks xmlns:a="http://schemas.openxmlformats.org/drawingml/2006/main" noGrp="1"/>
          </p:cNvSpPr>
          <p:nvPr/>
        </p:nvSpPr>
        <p:spPr>
          <a:xfrm xmlns:a="http://schemas.openxmlformats.org/drawingml/2006/main">
            <a:off x="5981700" y="19431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FFFFFF"/>
                </a:solidFill>
                <a:latin typeface="Inter"/>
                <a:ea typeface="Inter"/>
                <a:cs typeface="Inter"/>
              </a:defRPr>
            </a:pPr>
            <a:r>
              <a:rPr sz="975" b="1">
                <a:solidFill>
                  <a:srgbClr val="FFFFFF"/>
                </a:solidFill>
                <a:latin typeface="Inter"/>
                <a:ea typeface="Inter"/>
                <a:cs typeface="Inter"/>
              </a:rPr>
              <a:t>DEC-028 · LINKED</a:t>
            </a:r>
          </a:p>
        </p:txBody>
      </p:sp>
      <p:sp>
        <p:nvSpPr>
          <p:cNvPr id="11" name="">
            <a:extLst xmlns:a="http://schemas.openxmlformats.org/drawingml/2006/main">
              <a:ext uri="{FF2B5EF4-FFF2-40B4-BE49-F238E27FC236}">
                <a16:creationId xmlns:a16="http://schemas.microsoft.com/office/drawing/2014/main" id="{6989E426-EBD4-41B0-8B6F-80783FE1C0FA}"/>
              </a:ext>
            </a:extLst>
          </p:cNvPr>
          <p:cNvSpPr>
            <a:spLocks xmlns:a="http://schemas.openxmlformats.org/drawingml/2006/main" noGrp="1"/>
          </p:cNvSpPr>
          <p:nvPr/>
        </p:nvSpPr>
        <p:spPr>
          <a:xfrm xmlns:a="http://schemas.openxmlformats.org/drawingml/2006/main">
            <a:off x="723900" y="5772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0253B"/>
                </a:solidFill>
                <a:latin typeface="Inter"/>
                <a:ea typeface="Inter"/>
                <a:cs typeface="Inter"/>
              </a:defRPr>
            </a:pPr>
            <a:r>
              <a:rPr sz="1275" b="1">
                <a:solidFill>
                  <a:srgbClr val="10253B"/>
                </a:solidFill>
                <a:latin typeface="Inter"/>
                <a:ea typeface="Inter"/>
                <a:cs typeface="Inter"/>
              </a:rPr>
              <a:t>SMN-214 · Environmental certification</a:t>
            </a:r>
          </a:p>
        </p:txBody>
      </p:sp>
      <p:sp>
        <p:nvSpPr>
          <p:cNvPr id="12" name="">
            <a:extLst xmlns:a="http://schemas.openxmlformats.org/drawingml/2006/main">
              <a:ext uri="{FF2B5EF4-FFF2-40B4-BE49-F238E27FC236}">
                <a16:creationId xmlns:a16="http://schemas.microsoft.com/office/drawing/2014/main" id="{4A636382-5DB9-40EC-BB5D-30432E92CA2D}"/>
              </a:ext>
            </a:extLst>
          </p:cNvPr>
          <p:cNvSpPr>
            <a:spLocks xmlns:a="http://schemas.openxmlformats.org/drawingml/2006/main" noGrp="1"/>
          </p:cNvSpPr>
          <p:nvPr/>
        </p:nvSpPr>
        <p:spPr>
          <a:xfrm xmlns:a="http://schemas.openxmlformats.org/drawingml/2006/main">
            <a:off x="723900" y="60579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C7084"/>
                </a:solidFill>
                <a:latin typeface="Inter"/>
                <a:ea typeface="Inter"/>
                <a:cs typeface="Inter"/>
              </a:defRPr>
            </a:pPr>
            <a:r>
              <a:rPr sz="1050" b="0">
                <a:solidFill>
                  <a:srgbClr val="5C7084"/>
                </a:solidFill>
                <a:latin typeface="Inter"/>
                <a:ea typeface="Inter"/>
                <a:cs typeface="Inter"/>
              </a:rPr>
              <a:t>Owner · dependencies · schedule exposure · linked evidence</a:t>
            </a:r>
          </a:p>
        </p:txBody>
      </p:sp>
      <p:sp>
        <p:nvSpPr>
          <p:cNvPr id="13" name="">
            <a:extLst xmlns:a="http://schemas.openxmlformats.org/drawingml/2006/main">
              <a:ext uri="{FF2B5EF4-FFF2-40B4-BE49-F238E27FC236}">
                <a16:creationId xmlns:a16="http://schemas.microsoft.com/office/drawing/2014/main" id="{8C0BF67D-3512-4A44-AAF0-A58C641EBB3C}"/>
              </a:ext>
            </a:extLst>
          </p:cNvPr>
          <p:cNvSpPr>
            <a:spLocks xmlns:a="http://schemas.openxmlformats.org/drawingml/2006/main" noGrp="1"/>
          </p:cNvSpPr>
          <p:nvPr/>
        </p:nvSpPr>
        <p:spPr>
          <a:xfrm xmlns:a="http://schemas.openxmlformats.org/drawingml/2006/main">
            <a:off x="6667500" y="5715000"/>
            <a:ext cx="4838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a:solidFill>
                  <a:srgbClr val="10253B"/>
                </a:solidFill>
                <a:latin typeface="Inter"/>
                <a:ea typeface="Inter"/>
                <a:cs typeface="Inter"/>
              </a:defRPr>
            </a:pPr>
            <a:r>
              <a:rPr sz="1125" b="1">
                <a:solidFill>
                  <a:srgbClr val="10253B"/>
                </a:solidFill>
                <a:latin typeface="Inter"/>
                <a:ea typeface="Inter"/>
                <a:cs typeface="Inter"/>
              </a:rPr>
              <a:t>DEC-028 · Options · recommendation · comments · version history</a:t>
            </a:r>
          </a:p>
        </p:txBody>
      </p:sp>
      <p:sp>
        <p:nvSpPr>
          <p:cNvPr id="14" name="">
            <a:extLst xmlns:a="http://schemas.openxmlformats.org/drawingml/2006/main">
              <a:ext uri="{FF2B5EF4-FFF2-40B4-BE49-F238E27FC236}">
                <a16:creationId xmlns:a16="http://schemas.microsoft.com/office/drawing/2014/main" id="{D7868F5F-11ED-47D6-9348-48529F2DDB03}"/>
              </a:ext>
            </a:extLst>
          </p:cNvPr>
          <p:cNvSpPr>
            <a:spLocks xmlns:a="http://schemas.openxmlformats.org/drawingml/2006/main" noGrp="1"/>
          </p:cNvSpPr>
          <p:nvPr/>
        </p:nvSpPr>
        <p:spPr>
          <a:xfrm xmlns:a="http://schemas.openxmlformats.org/drawingml/2006/main">
            <a:off x="6667500" y="6210300"/>
            <a:ext cx="483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1477F8"/>
                </a:solidFill>
                <a:latin typeface="Inter"/>
                <a:ea typeface="Inter"/>
                <a:cs typeface="Inter"/>
              </a:defRPr>
            </a:pPr>
            <a:r>
              <a:rPr sz="975" b="1">
                <a:solidFill>
                  <a:srgbClr val="1477F8"/>
                </a:solidFill>
                <a:latin typeface="Inter"/>
                <a:ea typeface="Inter"/>
                <a:cs typeface="Inter"/>
              </a:rPr>
              <a:t>No re-keying between the signal, work item, and decision page.</a:t>
            </a:r>
          </a:p>
        </p:txBody>
      </p:sp>
      <p:sp>
        <p:nvSpPr>
          <p:cNvPr id="15" name="">
            <a:extLst xmlns:a="http://schemas.openxmlformats.org/drawingml/2006/main">
              <a:ext uri="{FF2B5EF4-FFF2-40B4-BE49-F238E27FC236}">
                <a16:creationId xmlns:a16="http://schemas.microsoft.com/office/drawing/2014/main" id="{C4CDF9EC-DF33-4012-8174-BD355CE869C0}"/>
              </a:ext>
            </a:extLst>
          </p:cNvPr>
          <p:cNvSpPr>
            <a:spLocks xmlns:a="http://schemas.openxmlformats.org/drawingml/2006/main" noGrp="1"/>
          </p:cNvSpPr>
          <p:nvPr/>
        </p:nvSpPr>
        <p:spPr>
          <a:xfrm xmlns:a="http://schemas.openxmlformats.org/drawingml/2006/main">
            <a:off x="723900" y="64960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C7084"/>
                </a:solidFill>
                <a:latin typeface="Inter"/>
                <a:ea typeface="Inter"/>
                <a:cs typeface="Inter"/>
              </a:defRPr>
            </a:pPr>
            <a:r>
              <a:rPr sz="825" b="1">
                <a:solidFill>
                  <a:srgbClr val="5C7084"/>
                </a:solidFill>
                <a:latin typeface="Inter"/>
                <a:ea typeface="Inter"/>
                <a:cs typeface="Inter"/>
              </a:rPr>
              <a:t>CONCEPT DEMO — SYNTHETIC DATA</a:t>
            </a:r>
          </a:p>
        </p:txBody>
      </p:sp>
    </p:spTree>
    <p:extLst>
      <p:ext uri="{BB962C8B-B14F-4D97-AF65-F5344CB8AC3E}">
        <p14:creationId xmlns:p14="http://schemas.microsoft.com/office/powerpoint/2010/main" val="991745072"/>
      </p:ext>
    </p:extLst>
  </p:cSld>
</p:sld>
</file>

<file path=ppt/slides/slide5.xml><?xml version="1.0" encoding="utf-8"?>
<p:sld xmlns:p="http://schemas.openxmlformats.org/presentationml/2006/main">
  <p:cSld>
    <p:bg>
      <p:bgPr>
        <a:solidFill xmlns:a="http://schemas.openxmlformats.org/drawingml/2006/main">
          <a:srgbClr val="071A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711D681-0149-43C7-9AD3-6FF415B60767}"/>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90D2FF"/>
                </a:solidFill>
                <a:latin typeface="Inter"/>
                <a:ea typeface="Inter"/>
                <a:cs typeface="Inter"/>
              </a:defRPr>
            </a:pPr>
            <a:r>
              <a:rPr sz="975" b="1">
                <a:solidFill>
                  <a:srgbClr val="90D2FF"/>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03705703-8BAC-4598-8BBC-8BE07E16A7AC}"/>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9CCE0"/>
                </a:solidFill>
                <a:latin typeface="Inter"/>
                <a:ea typeface="Inter"/>
                <a:cs typeface="Inter"/>
              </a:defRPr>
            </a:pPr>
            <a:r>
              <a:rPr sz="975" b="1">
                <a:solidFill>
                  <a:srgbClr val="B9CCE0"/>
                </a:solidFill>
                <a:latin typeface="Inter"/>
                <a:ea typeface="Inter"/>
                <a:cs typeface="Inter"/>
              </a:rPr>
              <a:t>05</a:t>
            </a:r>
          </a:p>
        </p:txBody>
      </p:sp>
      <p:sp>
        <p:nvSpPr>
          <p:cNvPr id="3" name="">
            <a:extLst xmlns:a="http://schemas.openxmlformats.org/drawingml/2006/main">
              <a:ext uri="{FF2B5EF4-FFF2-40B4-BE49-F238E27FC236}">
                <a16:creationId xmlns:a16="http://schemas.microsoft.com/office/drawing/2014/main" id="{4F745753-EB62-4510-8183-C845952CA0B8}"/>
              </a:ext>
            </a:extLst>
          </p:cNvPr>
          <p:cNvSpPr>
            <a:spLocks xmlns:a="http://schemas.openxmlformats.org/drawingml/2006/main" noGrp="1"/>
          </p:cNvSpPr>
          <p:nvPr/>
        </p:nvSpPr>
        <p:spPr>
          <a:xfrm xmlns:a="http://schemas.openxmlformats.org/drawingml/2006/main">
            <a:off x="723900" y="742950"/>
            <a:ext cx="1074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FFFFFF"/>
                </a:solidFill>
                <a:latin typeface="Inter"/>
                <a:ea typeface="Inter"/>
                <a:cs typeface="Inter"/>
              </a:defRPr>
            </a:pPr>
            <a:r>
              <a:rPr sz="3000" b="1">
                <a:solidFill>
                  <a:srgbClr val="FFFFFF"/>
                </a:solidFill>
                <a:latin typeface="Inter"/>
                <a:ea typeface="Inter"/>
                <a:cs typeface="Inter"/>
              </a:rPr>
              <a:t>One approval updates the operating picture.</a:t>
            </a:r>
          </a:p>
        </p:txBody>
      </p:sp>
      <p:sp>
        <p:nvSpPr>
          <p:cNvPr id="4" name="">
            <a:extLst xmlns:a="http://schemas.openxmlformats.org/drawingml/2006/main">
              <a:ext uri="{FF2B5EF4-FFF2-40B4-BE49-F238E27FC236}">
                <a16:creationId xmlns:a16="http://schemas.microsoft.com/office/drawing/2014/main" id="{1A0D0A79-A086-4DE5-997E-B28DEB797B8C}"/>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5" name="">
            <a:extLst xmlns:a="http://schemas.openxmlformats.org/drawingml/2006/main">
              <a:ext uri="{FF2B5EF4-FFF2-40B4-BE49-F238E27FC236}">
                <a16:creationId xmlns:a16="http://schemas.microsoft.com/office/drawing/2014/main" id="{B1796E8C-3A4C-4F55-9C94-490A7E28076C}"/>
              </a:ext>
            </a:extLst>
          </p:cNvPr>
          <p:cNvSpPr>
            <a:spLocks xmlns:a="http://schemas.openxmlformats.org/drawingml/2006/main" noGrp="1"/>
          </p:cNvSpPr>
          <p:nvPr/>
        </p:nvSpPr>
        <p:spPr>
          <a:xfrm xmlns:a="http://schemas.openxmlformats.org/drawingml/2006/main">
            <a:off x="723900" y="19240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F3A712"/>
                </a:solidFill>
                <a:latin typeface="Inter"/>
                <a:ea typeface="Inter"/>
                <a:cs typeface="Inter"/>
              </a:defRPr>
            </a:pPr>
            <a:r>
              <a:rPr sz="975" b="1">
                <a:solidFill>
                  <a:srgbClr val="F3A712"/>
                </a:solidFill>
                <a:latin typeface="Inter"/>
                <a:ea typeface="Inter"/>
                <a:cs typeface="Inter"/>
              </a:rPr>
              <a:t>BEFORE</a:t>
            </a:r>
          </a:p>
        </p:txBody>
      </p:sp>
      <p:sp>
        <p:nvSpPr>
          <p:cNvPr id="6" name="">
            <a:extLst xmlns:a="http://schemas.openxmlformats.org/drawingml/2006/main">
              <a:ext uri="{FF2B5EF4-FFF2-40B4-BE49-F238E27FC236}">
                <a16:creationId xmlns:a16="http://schemas.microsoft.com/office/drawing/2014/main" id="{F97E5F79-81B4-4756-AEB0-EB08491E7EBA}"/>
              </a:ext>
            </a:extLst>
          </p:cNvPr>
          <p:cNvSpPr>
            <a:spLocks xmlns:a="http://schemas.openxmlformats.org/drawingml/2006/main" noGrp="1"/>
          </p:cNvSpPr>
          <p:nvPr/>
        </p:nvSpPr>
        <p:spPr>
          <a:xfrm xmlns:a="http://schemas.openxmlformats.org/drawingml/2006/main">
            <a:off x="723900" y="2228850"/>
            <a:ext cx="2286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18 days exposed</a:t>
            </a:r>
          </a:p>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6 blocked</a:t>
            </a:r>
          </a:p>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Decision pending</a:t>
            </a:r>
          </a:p>
        </p:txBody>
      </p:sp>
      <p:sp>
        <p:nvSpPr>
          <p:cNvPr id="7" name="">
            <a:extLst xmlns:a="http://schemas.openxmlformats.org/drawingml/2006/main">
              <a:ext uri="{FF2B5EF4-FFF2-40B4-BE49-F238E27FC236}">
                <a16:creationId xmlns:a16="http://schemas.microsoft.com/office/drawing/2014/main" id="{B0C7DB7F-B703-482B-9270-0CF8C39E8D07}"/>
              </a:ext>
            </a:extLst>
          </p:cNvPr>
          <p:cNvSpPr>
            <a:spLocks xmlns:a="http://schemas.openxmlformats.org/drawingml/2006/main" noGrp="1"/>
          </p:cNvSpPr>
          <p:nvPr/>
        </p:nvSpPr>
        <p:spPr>
          <a:xfrm xmlns:a="http://schemas.openxmlformats.org/drawingml/2006/main">
            <a:off x="723900" y="3543300"/>
            <a:ext cx="2000250" cy="9525"/>
          </a:xfrm>
          <a:prstGeom xmlns:a="http://schemas.openxmlformats.org/drawingml/2006/main" prst="rect">
            <a:avLst/>
          </a:prstGeom>
          <a:solidFill xmlns:a="http://schemas.openxmlformats.org/drawingml/2006/main">
            <a:srgbClr val="31506C"/>
          </a:solidFill>
          <a:ln xmlns:a="http://schemas.openxmlformats.org/drawingml/2006/main" w="0">
            <a:solidFill>
              <a:srgbClr val="31506C"/>
            </a:solidFill>
            <a:prstDash val="solid"/>
          </a:ln>
        </p:spPr>
      </p:sp>
      <p:sp>
        <p:nvSpPr>
          <p:cNvPr id="8" name="">
            <a:extLst xmlns:a="http://schemas.openxmlformats.org/drawingml/2006/main">
              <a:ext uri="{FF2B5EF4-FFF2-40B4-BE49-F238E27FC236}">
                <a16:creationId xmlns:a16="http://schemas.microsoft.com/office/drawing/2014/main" id="{BD41468E-7D53-4B24-9D51-55A597AB674E}"/>
              </a:ext>
            </a:extLst>
          </p:cNvPr>
          <p:cNvSpPr>
            <a:spLocks xmlns:a="http://schemas.openxmlformats.org/drawingml/2006/main" noGrp="1"/>
          </p:cNvSpPr>
          <p:nvPr/>
        </p:nvSpPr>
        <p:spPr>
          <a:xfrm xmlns:a="http://schemas.openxmlformats.org/drawingml/2006/main">
            <a:off x="723900" y="3771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23A978"/>
                </a:solidFill>
                <a:latin typeface="Inter"/>
                <a:ea typeface="Inter"/>
                <a:cs typeface="Inter"/>
              </a:defRPr>
            </a:pPr>
            <a:r>
              <a:rPr sz="975" b="1">
                <a:solidFill>
                  <a:srgbClr val="23A978"/>
                </a:solidFill>
                <a:latin typeface="Inter"/>
                <a:ea typeface="Inter"/>
                <a:cs typeface="Inter"/>
              </a:rPr>
              <a:t>AFTER</a:t>
            </a:r>
          </a:p>
        </p:txBody>
      </p:sp>
      <p:sp>
        <p:nvSpPr>
          <p:cNvPr id="9" name="">
            <a:extLst xmlns:a="http://schemas.openxmlformats.org/drawingml/2006/main">
              <a:ext uri="{FF2B5EF4-FFF2-40B4-BE49-F238E27FC236}">
                <a16:creationId xmlns:a16="http://schemas.microsoft.com/office/drawing/2014/main" id="{0CDEE10E-A5EF-4911-82A4-4931852EE3C8}"/>
              </a:ext>
            </a:extLst>
          </p:cNvPr>
          <p:cNvSpPr>
            <a:spLocks xmlns:a="http://schemas.openxmlformats.org/drawingml/2006/main" noGrp="1"/>
          </p:cNvSpPr>
          <p:nvPr/>
        </p:nvSpPr>
        <p:spPr>
          <a:xfrm xmlns:a="http://schemas.openxmlformats.org/drawingml/2006/main">
            <a:off x="723900" y="4076700"/>
            <a:ext cx="2286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4 days exposed</a:t>
            </a:r>
          </a:p>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6 resumed</a:t>
            </a:r>
          </a:p>
          <a:p xmlns:a="http://schemas.openxmlformats.org/drawingml/2006/main">
            <a:pPr algn="l">
              <a:lnSpc>
                <a:spcPct val="122000"/>
              </a:lnSpc>
              <a:buNone/>
              <a:defRPr sz="1650" b="1">
                <a:solidFill>
                  <a:srgbClr val="FFFFFF"/>
                </a:solidFill>
                <a:latin typeface="Inter"/>
                <a:ea typeface="Inter"/>
                <a:cs typeface="Inter"/>
              </a:defRPr>
            </a:pPr>
            <a:r>
              <a:rPr sz="1650" b="1">
                <a:solidFill>
                  <a:srgbClr val="FFFFFF"/>
                </a:solidFill>
                <a:latin typeface="Inter"/>
                <a:ea typeface="Inter"/>
                <a:cs typeface="Inter"/>
              </a:rPr>
              <a:t>Mitigation active</a:t>
            </a:r>
          </a:p>
        </p:txBody>
      </p:sp>
      <p:sp>
        <p:nvSpPr>
          <p:cNvPr id="10" name="">
            <a:extLst xmlns:a="http://schemas.openxmlformats.org/drawingml/2006/main">
              <a:ext uri="{FF2B5EF4-FFF2-40B4-BE49-F238E27FC236}">
                <a16:creationId xmlns:a16="http://schemas.microsoft.com/office/drawing/2014/main" id="{8EC82AAF-73CB-434D-9146-B9782AF1F37C}"/>
              </a:ext>
            </a:extLst>
          </p:cNvPr>
          <p:cNvSpPr>
            <a:spLocks xmlns:a="http://schemas.openxmlformats.org/drawingml/2006/main" noGrp="1"/>
          </p:cNvSpPr>
          <p:nvPr/>
        </p:nvSpPr>
        <p:spPr>
          <a:xfrm xmlns:a="http://schemas.openxmlformats.org/drawingml/2006/main">
            <a:off x="723900" y="54483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C4D5E6"/>
                </a:solidFill>
                <a:latin typeface="Inter"/>
                <a:ea typeface="Inter"/>
                <a:cs typeface="Inter"/>
              </a:defRPr>
            </a:pPr>
            <a:r>
              <a:rPr sz="1125" b="0">
                <a:solidFill>
                  <a:srgbClr val="C4D5E6"/>
                </a:solidFill>
                <a:latin typeface="Inter"/>
                <a:ea typeface="Inter"/>
                <a:cs typeface="Inter"/>
              </a:rPr>
              <a:t>Project remains AMBER until verification evidence closes.</a:t>
            </a:r>
          </a:p>
        </p:txBody>
      </p:sp>
      <p:sp>
        <p:nvSpPr>
          <p:cNvPr id="11" name="">
            <a:extLst xmlns:a="http://schemas.openxmlformats.org/drawingml/2006/main">
              <a:ext uri="{FF2B5EF4-FFF2-40B4-BE49-F238E27FC236}">
                <a16:creationId xmlns:a16="http://schemas.microsoft.com/office/drawing/2014/main" id="{71353E54-D982-47D9-95A2-B9D6024BEA57}"/>
              </a:ext>
            </a:extLst>
          </p:cNvPr>
          <p:cNvSpPr>
            <a:spLocks xmlns:a="http://schemas.openxmlformats.org/drawingml/2006/main" noGrp="1"/>
          </p:cNvSpPr>
          <p:nvPr/>
        </p:nvSpPr>
        <p:spPr>
          <a:xfrm xmlns:a="http://schemas.openxmlformats.org/drawingml/2006/main">
            <a:off x="3324225" y="1914525"/>
            <a:ext cx="8229600" cy="4191000"/>
          </a:xfrm>
          <a:prstGeom xmlns:a="http://schemas.openxmlformats.org/drawingml/2006/main" prst="roundRect">
            <a:avLst>
              <a:gd name="adj" fmla="val 3636"/>
            </a:avLst>
          </a:prstGeom>
          <a:solidFill xmlns:a="http://schemas.openxmlformats.org/drawingml/2006/main">
            <a:srgbClr val="0B2947"/>
          </a:solidFill>
          <a:ln xmlns:a="http://schemas.openxmlformats.org/drawingml/2006/main" w="9525">
            <a:solidFill>
              <a:srgbClr val="214B70"/>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71d339d0ec541db"/>
          <a:srcRect xmlns:a="http://schemas.openxmlformats.org/drawingml/2006/main" l="0" t="9719" r="0" b="9719"/>
          <a:stretch xmlns:a="http://schemas.openxmlformats.org/drawingml/2006/main">
            <a:fillRect l="0" t="0" r="0" b="0"/>
          </a:stretch>
        </p:blipFill>
        <p:spPr>
          <a:xfrm xmlns:a="http://schemas.openxmlformats.org/drawingml/2006/main">
            <a:off x="3371850" y="1962150"/>
            <a:ext cx="8134350" cy="4095750"/>
          </a:xfrm>
          <a:prstGeom xmlns:a="http://schemas.openxmlformats.org/drawingml/2006/main" prst="roundRect">
            <a:avLst>
              <a:gd name="adj" fmla="val 2791"/>
            </a:avLst>
          </a:prstGeom>
        </p:spPr>
      </p:pic>
      <p:sp>
        <p:nvSpPr>
          <p:cNvPr id="13" name="">
            <a:extLst xmlns:a="http://schemas.openxmlformats.org/drawingml/2006/main">
              <a:ext uri="{FF2B5EF4-FFF2-40B4-BE49-F238E27FC236}">
                <a16:creationId xmlns:a16="http://schemas.microsoft.com/office/drawing/2014/main" id="{2742208A-4C7F-4BCB-92D0-8A59C1694963}"/>
              </a:ext>
            </a:extLst>
          </p:cNvPr>
          <p:cNvSpPr>
            <a:spLocks xmlns:a="http://schemas.openxmlformats.org/drawingml/2006/main" noGrp="1"/>
          </p:cNvSpPr>
          <p:nvPr/>
        </p:nvSpPr>
        <p:spPr>
          <a:xfrm xmlns:a="http://schemas.openxmlformats.org/drawingml/2006/main">
            <a:off x="3486150" y="4438650"/>
            <a:ext cx="2705100" cy="1543050"/>
          </a:xfrm>
          <a:prstGeom xmlns:a="http://schemas.openxmlformats.org/drawingml/2006/main" prst="roundRect">
            <a:avLst>
              <a:gd name="adj" fmla="val 9877"/>
            </a:avLst>
          </a:prstGeom>
          <a:solidFill xmlns:a="http://schemas.openxmlformats.org/drawingml/2006/main">
            <a:srgbClr val="FFFFFF"/>
          </a:solidFill>
          <a:ln xmlns:a="http://schemas.openxmlformats.org/drawingml/2006/main" w="19050">
            <a:solidFill>
              <a:srgbClr val="F3A712"/>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0f7b6a37e4e4e72"/>
          <a:srcRect xmlns:a="http://schemas.openxmlformats.org/drawingml/2006/main" l="0" t="5362" r="0" b="5362"/>
          <a:stretch xmlns:a="http://schemas.openxmlformats.org/drawingml/2006/main">
            <a:fillRect l="0" t="0" r="0" b="0"/>
          </a:stretch>
        </p:blipFill>
        <p:spPr>
          <a:xfrm xmlns:a="http://schemas.openxmlformats.org/drawingml/2006/main">
            <a:off x="3524250" y="4476750"/>
            <a:ext cx="2628900" cy="1466850"/>
          </a:xfrm>
          <a:prstGeom xmlns:a="http://schemas.openxmlformats.org/drawingml/2006/main" prst="roundRect">
            <a:avLst>
              <a:gd name="adj" fmla="val 7792"/>
            </a:avLst>
          </a:prstGeom>
        </p:spPr>
      </p:pic>
      <p:sp>
        <p:nvSpPr>
          <p:cNvPr id="15" name="">
            <a:extLst xmlns:a="http://schemas.openxmlformats.org/drawingml/2006/main">
              <a:ext uri="{FF2B5EF4-FFF2-40B4-BE49-F238E27FC236}">
                <a16:creationId xmlns:a16="http://schemas.microsoft.com/office/drawing/2014/main" id="{A11B1210-BA98-4097-A5BB-1A4F91CC0ADC}"/>
              </a:ext>
            </a:extLst>
          </p:cNvPr>
          <p:cNvSpPr>
            <a:spLocks xmlns:a="http://schemas.openxmlformats.org/drawingml/2006/main" noGrp="1"/>
          </p:cNvSpPr>
          <p:nvPr/>
        </p:nvSpPr>
        <p:spPr>
          <a:xfrm xmlns:a="http://schemas.openxmlformats.org/drawingml/2006/main">
            <a:off x="6076950" y="5734050"/>
            <a:ext cx="5238750" cy="361950"/>
          </a:xfrm>
          <a:prstGeom xmlns:a="http://schemas.openxmlformats.org/drawingml/2006/main" prst="roundRect">
            <a:avLst>
              <a:gd name="adj" fmla="val 42105"/>
            </a:avLst>
          </a:prstGeom>
          <a:solidFill xmlns:a="http://schemas.openxmlformats.org/drawingml/2006/main">
            <a:srgbClr val="1477F8"/>
          </a:solidFill>
          <a:ln xmlns:a="http://schemas.openxmlformats.org/drawingml/2006/main" w="0">
            <a:solidFill>
              <a:srgbClr val="1477F8"/>
            </a:solidFill>
            <a:prstDash val="solid"/>
          </a:ln>
        </p:spPr>
      </p:sp>
      <p:sp>
        <p:nvSpPr>
          <p:cNvPr id="16" name="">
            <a:extLst xmlns:a="http://schemas.openxmlformats.org/drawingml/2006/main">
              <a:ext uri="{FF2B5EF4-FFF2-40B4-BE49-F238E27FC236}">
                <a16:creationId xmlns:a16="http://schemas.microsoft.com/office/drawing/2014/main" id="{F2675A57-E69F-4B7A-A241-2B614FE59D1D}"/>
              </a:ext>
            </a:extLst>
          </p:cNvPr>
          <p:cNvSpPr>
            <a:spLocks xmlns:a="http://schemas.openxmlformats.org/drawingml/2006/main" noGrp="1"/>
          </p:cNvSpPr>
          <p:nvPr/>
        </p:nvSpPr>
        <p:spPr>
          <a:xfrm xmlns:a="http://schemas.openxmlformats.org/drawingml/2006/main">
            <a:off x="6191250" y="5829300"/>
            <a:ext cx="501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FFFFFF"/>
                </a:solidFill>
                <a:latin typeface="Inter"/>
                <a:ea typeface="Inter"/>
                <a:cs typeface="Inter"/>
              </a:defRPr>
            </a:pPr>
            <a:r>
              <a:rPr sz="900" b="1">
                <a:solidFill>
                  <a:srgbClr val="FFFFFF"/>
                </a:solidFill>
                <a:latin typeface="Inter"/>
                <a:ea typeface="Inter"/>
                <a:cs typeface="Inter"/>
              </a:rPr>
              <a:t>SCHEDULE · RISK · AUDIT · NOTIFICATIONS · BRIEFING</a:t>
            </a:r>
          </a:p>
        </p:txBody>
      </p:sp>
      <p:sp>
        <p:nvSpPr>
          <p:cNvPr id="17" name="">
            <a:extLst xmlns:a="http://schemas.openxmlformats.org/drawingml/2006/main">
              <a:ext uri="{FF2B5EF4-FFF2-40B4-BE49-F238E27FC236}">
                <a16:creationId xmlns:a16="http://schemas.microsoft.com/office/drawing/2014/main" id="{7689467A-278D-4476-8688-BACDE6061D2A}"/>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B9CCE0"/>
                </a:solidFill>
                <a:latin typeface="Inter"/>
                <a:ea typeface="Inter"/>
                <a:cs typeface="Inter"/>
              </a:defRPr>
            </a:pPr>
            <a:r>
              <a:rPr sz="825" b="1">
                <a:solidFill>
                  <a:srgbClr val="B9CCE0"/>
                </a:solidFill>
                <a:latin typeface="Inter"/>
                <a:ea typeface="Inter"/>
                <a:cs typeface="Inter"/>
              </a:rPr>
              <a:t>CONCEPT DEMO — SYNTHETIC DATA</a:t>
            </a:r>
          </a:p>
        </p:txBody>
      </p:sp>
    </p:spTree>
    <p:extLst>
      <p:ext uri="{BB962C8B-B14F-4D97-AF65-F5344CB8AC3E}">
        <p14:creationId xmlns:p14="http://schemas.microsoft.com/office/powerpoint/2010/main" val="1332162694"/>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DEB01F-7708-4A67-93E3-4EC0AF87F56F}"/>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1477F8"/>
                </a:solidFill>
                <a:latin typeface="Inter"/>
                <a:ea typeface="Inter"/>
                <a:cs typeface="Inter"/>
              </a:defRPr>
            </a:pPr>
            <a:r>
              <a:rPr sz="975" b="1">
                <a:solidFill>
                  <a:srgbClr val="1477F8"/>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CDCAFC0E-654E-44F9-B590-C90130A16549}"/>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06</a:t>
            </a:r>
          </a:p>
        </p:txBody>
      </p:sp>
      <p:sp>
        <p:nvSpPr>
          <p:cNvPr id="3" name="">
            <a:extLst xmlns:a="http://schemas.openxmlformats.org/drawingml/2006/main">
              <a:ext uri="{FF2B5EF4-FFF2-40B4-BE49-F238E27FC236}">
                <a16:creationId xmlns:a16="http://schemas.microsoft.com/office/drawing/2014/main" id="{8DF37767-4E58-4103-81CA-A21B9C3FFC38}"/>
              </a:ext>
            </a:extLst>
          </p:cNvPr>
          <p:cNvSpPr>
            <a:spLocks xmlns:a="http://schemas.openxmlformats.org/drawingml/2006/main" noGrp="1"/>
          </p:cNvSpPr>
          <p:nvPr/>
        </p:nvSpPr>
        <p:spPr>
          <a:xfrm xmlns:a="http://schemas.openxmlformats.org/drawingml/2006/main">
            <a:off x="723900" y="7429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10253B"/>
                </a:solidFill>
                <a:latin typeface="Inter"/>
                <a:ea typeface="Inter"/>
                <a:cs typeface="Inter"/>
              </a:defRPr>
            </a:pPr>
            <a:r>
              <a:rPr sz="3000" b="1">
                <a:solidFill>
                  <a:srgbClr val="10253B"/>
                </a:solidFill>
                <a:latin typeface="Inter"/>
                <a:ea typeface="Inter"/>
                <a:cs typeface="Inter"/>
              </a:rPr>
              <a:t>This is a workflow concept—not a production claim.</a:t>
            </a:r>
          </a:p>
        </p:txBody>
      </p:sp>
      <p:sp>
        <p:nvSpPr>
          <p:cNvPr id="4" name="">
            <a:extLst xmlns:a="http://schemas.openxmlformats.org/drawingml/2006/main">
              <a:ext uri="{FF2B5EF4-FFF2-40B4-BE49-F238E27FC236}">
                <a16:creationId xmlns:a16="http://schemas.microsoft.com/office/drawing/2014/main" id="{1741F57A-0886-435B-AB40-4D04154916E3}"/>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1477F8"/>
          </a:solidFill>
          <a:ln xmlns:a="http://schemas.openxmlformats.org/drawingml/2006/main" w="0">
            <a:solidFill>
              <a:srgbClr val="1477F8"/>
            </a:solidFill>
            <a:prstDash val="solid"/>
          </a:ln>
        </p:spPr>
      </p:sp>
      <p:sp>
        <p:nvSpPr>
          <p:cNvPr id="5" name="">
            <a:extLst xmlns:a="http://schemas.openxmlformats.org/drawingml/2006/main">
              <a:ext uri="{FF2B5EF4-FFF2-40B4-BE49-F238E27FC236}">
                <a16:creationId xmlns:a16="http://schemas.microsoft.com/office/drawing/2014/main" id="{12DF353B-8A6F-40F6-B2BB-54A6AD09B969}"/>
              </a:ext>
            </a:extLst>
          </p:cNvPr>
          <p:cNvSpPr>
            <a:spLocks xmlns:a="http://schemas.openxmlformats.org/drawingml/2006/main" noGrp="1"/>
          </p:cNvSpPr>
          <p:nvPr/>
        </p:nvSpPr>
        <p:spPr>
          <a:xfrm xmlns:a="http://schemas.openxmlformats.org/drawingml/2006/main">
            <a:off x="723900" y="2095500"/>
            <a:ext cx="3371850" cy="3505200"/>
          </a:xfrm>
          <a:prstGeom xmlns:a="http://schemas.openxmlformats.org/drawingml/2006/main" prst="roundRect">
            <a:avLst>
              <a:gd name="adj" fmla="val 6215"/>
            </a:avLst>
          </a:prstGeom>
          <a:solidFill xmlns:a="http://schemas.openxmlformats.org/drawingml/2006/main">
            <a:srgbClr val="071A2D"/>
          </a:solidFill>
          <a:ln xmlns:a="http://schemas.openxmlformats.org/drawingml/2006/main" w="0">
            <a:solidFill>
              <a:srgbClr val="071A2D"/>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10983a30cc04bbc"/>
          <a:stretch xmlns:a="http://schemas.openxmlformats.org/drawingml/2006/main"/>
        </p:blipFill>
        <p:spPr>
          <a:xfrm xmlns:a="http://schemas.openxmlformats.org/drawingml/2006/main">
            <a:off x="1066800" y="2419350"/>
            <a:ext cx="781050" cy="781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FA6C45-4275-4DE2-ACA2-2ACBC564DFC2}"/>
              </a:ext>
            </a:extLst>
          </p:cNvPr>
          <p:cNvSpPr>
            <a:spLocks xmlns:a="http://schemas.openxmlformats.org/drawingml/2006/main" noGrp="1"/>
          </p:cNvSpPr>
          <p:nvPr/>
        </p:nvSpPr>
        <p:spPr>
          <a:xfrm xmlns:a="http://schemas.openxmlformats.org/drawingml/2006/main">
            <a:off x="1066800" y="3486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63B3FF"/>
                </a:solidFill>
                <a:latin typeface="Inter"/>
                <a:ea typeface="Inter"/>
                <a:cs typeface="Inter"/>
              </a:defRPr>
            </a:pPr>
            <a:r>
              <a:rPr sz="1500" b="1">
                <a:solidFill>
                  <a:srgbClr val="63B3FF"/>
                </a:solidFill>
                <a:latin typeface="Inter"/>
                <a:ea typeface="Inter"/>
                <a:cs typeface="Inter"/>
              </a:rPr>
              <a:t>CONCEPT DEMO</a:t>
            </a:r>
          </a:p>
        </p:txBody>
      </p:sp>
      <p:sp>
        <p:nvSpPr>
          <p:cNvPr id="8" name="">
            <a:extLst xmlns:a="http://schemas.openxmlformats.org/drawingml/2006/main">
              <a:ext uri="{FF2B5EF4-FFF2-40B4-BE49-F238E27FC236}">
                <a16:creationId xmlns:a16="http://schemas.microsoft.com/office/drawing/2014/main" id="{4E022235-4C9A-40BD-A41F-9B7AA8B0B134}"/>
              </a:ext>
            </a:extLst>
          </p:cNvPr>
          <p:cNvSpPr>
            <a:spLocks xmlns:a="http://schemas.openxmlformats.org/drawingml/2006/main" noGrp="1"/>
          </p:cNvSpPr>
          <p:nvPr/>
        </p:nvSpPr>
        <p:spPr>
          <a:xfrm xmlns:a="http://schemas.openxmlformats.org/drawingml/2006/main">
            <a:off x="1066800" y="38481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Inter"/>
                <a:ea typeface="Inter"/>
                <a:cs typeface="Inter"/>
              </a:defRPr>
            </a:pPr>
            <a:r>
              <a:rPr sz="1500" b="1">
                <a:solidFill>
                  <a:srgbClr val="FFFFFF"/>
                </a:solidFill>
                <a:latin typeface="Inter"/>
                <a:ea typeface="Inter"/>
                <a:cs typeface="Inter"/>
              </a:rPr>
              <a:t>SYNTHETIC DATA</a:t>
            </a:r>
          </a:p>
        </p:txBody>
      </p:sp>
      <p:sp>
        <p:nvSpPr>
          <p:cNvPr id="9" name="">
            <a:extLst xmlns:a="http://schemas.openxmlformats.org/drawingml/2006/main">
              <a:ext uri="{FF2B5EF4-FFF2-40B4-BE49-F238E27FC236}">
                <a16:creationId xmlns:a16="http://schemas.microsoft.com/office/drawing/2014/main" id="{B912026C-8E6F-4696-87B2-737B0B01B7B1}"/>
              </a:ext>
            </a:extLst>
          </p:cNvPr>
          <p:cNvSpPr>
            <a:spLocks xmlns:a="http://schemas.openxmlformats.org/drawingml/2006/main" noGrp="1"/>
          </p:cNvSpPr>
          <p:nvPr/>
        </p:nvSpPr>
        <p:spPr>
          <a:xfrm xmlns:a="http://schemas.openxmlformats.org/drawingml/2006/main">
            <a:off x="1066800" y="4476750"/>
            <a:ext cx="238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a:solidFill>
                  <a:srgbClr val="C4D5E6"/>
                </a:solidFill>
                <a:latin typeface="Inter"/>
                <a:ea typeface="Inter"/>
                <a:cs typeface="Inter"/>
              </a:defRPr>
            </a:pPr>
            <a:r>
              <a:rPr sz="1275" b="0">
                <a:solidFill>
                  <a:srgbClr val="C4D5E6"/>
                </a:solidFill>
                <a:latin typeface="Inter"/>
                <a:ea typeface="Inter"/>
                <a:cs typeface="Inter"/>
              </a:rPr>
              <a:t>Standalone HTML</a:t>
            </a:r>
          </a:p>
          <a:p xmlns:a="http://schemas.openxmlformats.org/drawingml/2006/main">
            <a:pPr algn="l">
              <a:lnSpc>
                <a:spcPct val="120000"/>
              </a:lnSpc>
              <a:buNone/>
              <a:defRPr sz="1275" b="0">
                <a:solidFill>
                  <a:srgbClr val="C4D5E6"/>
                </a:solidFill>
                <a:latin typeface="Inter"/>
                <a:ea typeface="Inter"/>
                <a:cs typeface="Inter"/>
              </a:defRPr>
            </a:pPr>
            <a:r>
              <a:rPr sz="1275" b="0">
                <a:solidFill>
                  <a:srgbClr val="C4D5E6"/>
                </a:solidFill>
                <a:latin typeface="Inter"/>
                <a:ea typeface="Inter"/>
                <a:cs typeface="Inter"/>
              </a:rPr>
              <a:t>No APIs · no persistence</a:t>
            </a:r>
          </a:p>
          <a:p xmlns:a="http://schemas.openxmlformats.org/drawingml/2006/main">
            <a:pPr algn="l">
              <a:lnSpc>
                <a:spcPct val="120000"/>
              </a:lnSpc>
              <a:buNone/>
              <a:defRPr sz="1275" b="0">
                <a:solidFill>
                  <a:srgbClr val="C4D5E6"/>
                </a:solidFill>
                <a:latin typeface="Inter"/>
                <a:ea typeface="Inter"/>
                <a:cs typeface="Inter"/>
              </a:defRPr>
            </a:pPr>
            <a:r>
              <a:rPr sz="1275" b="0">
                <a:solidFill>
                  <a:srgbClr val="C4D5E6"/>
                </a:solidFill>
                <a:latin typeface="Inter"/>
                <a:ea typeface="Inter"/>
                <a:cs typeface="Inter"/>
              </a:rPr>
              <a:t>No authenticated data</a:t>
            </a:r>
          </a:p>
        </p:txBody>
      </p:sp>
      <p:sp>
        <p:nvSpPr>
          <p:cNvPr id="10" name="">
            <a:extLst xmlns:a="http://schemas.openxmlformats.org/drawingml/2006/main">
              <a:ext uri="{FF2B5EF4-FFF2-40B4-BE49-F238E27FC236}">
                <a16:creationId xmlns:a16="http://schemas.microsoft.com/office/drawing/2014/main" id="{EF72A48D-C331-412F-8579-474F4F2EC3DF}"/>
              </a:ext>
            </a:extLst>
          </p:cNvPr>
          <p:cNvSpPr>
            <a:spLocks xmlns:a="http://schemas.openxmlformats.org/drawingml/2006/main" noGrp="1"/>
          </p:cNvSpPr>
          <p:nvPr/>
        </p:nvSpPr>
        <p:spPr>
          <a:xfrm xmlns:a="http://schemas.openxmlformats.org/drawingml/2006/main">
            <a:off x="4686300" y="21145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1477F8"/>
                </a:solidFill>
                <a:latin typeface="Inter"/>
                <a:ea typeface="Inter"/>
                <a:cs typeface="Inter"/>
              </a:defRPr>
            </a:pPr>
            <a:r>
              <a:rPr sz="1050" b="1">
                <a:solidFill>
                  <a:srgbClr val="1477F8"/>
                </a:solidFill>
                <a:latin typeface="Inter"/>
                <a:ea typeface="Inter"/>
                <a:cs typeface="Inter"/>
              </a:rPr>
              <a:t>DEMONSTRATED TODAY</a:t>
            </a:r>
          </a:p>
        </p:txBody>
      </p:sp>
      <p:sp>
        <p:nvSpPr>
          <p:cNvPr id="11" name="">
            <a:extLst xmlns:a="http://schemas.openxmlformats.org/drawingml/2006/main">
              <a:ext uri="{FF2B5EF4-FFF2-40B4-BE49-F238E27FC236}">
                <a16:creationId xmlns:a16="http://schemas.microsoft.com/office/drawing/2014/main" id="{5E758193-F518-4396-94BA-0517326F224D}"/>
              </a:ext>
            </a:extLst>
          </p:cNvPr>
          <p:cNvSpPr>
            <a:spLocks xmlns:a="http://schemas.openxmlformats.org/drawingml/2006/main" noGrp="1"/>
          </p:cNvSpPr>
          <p:nvPr/>
        </p:nvSpPr>
        <p:spPr>
          <a:xfrm xmlns:a="http://schemas.openxmlformats.org/drawingml/2006/main">
            <a:off x="4686300" y="2533650"/>
            <a:ext cx="5810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0253B"/>
                </a:solidFill>
                <a:latin typeface="Inter"/>
                <a:ea typeface="Inter"/>
                <a:cs typeface="Inter"/>
              </a:defRPr>
            </a:pPr>
            <a:r>
              <a:rPr sz="1500" b="0">
                <a:solidFill>
                  <a:srgbClr val="10253B"/>
                </a:solidFill>
                <a:latin typeface="Inter"/>
                <a:ea typeface="Inter"/>
                <a:cs typeface="Inter"/>
              </a:rPr>
              <a:t>Connected path from signal to evidence</a:t>
            </a:r>
          </a:p>
          <a:p xmlns:a="http://schemas.openxmlformats.org/drawingml/2006/main">
            <a:r>
              <a:t/>
            </a:r>
          </a:p>
          <a:p xmlns:a="http://schemas.openxmlformats.org/drawingml/2006/main">
            <a:pPr algn="l">
              <a:lnSpc>
                <a:spcPct val="108000"/>
              </a:lnSpc>
              <a:buNone/>
              <a:defRPr sz="1500" b="0">
                <a:solidFill>
                  <a:srgbClr val="10253B"/>
                </a:solidFill>
                <a:latin typeface="Inter"/>
                <a:ea typeface="Inter"/>
                <a:cs typeface="Inter"/>
              </a:defRPr>
            </a:pPr>
            <a:r>
              <a:rPr sz="1500" b="0">
                <a:solidFill>
                  <a:srgbClr val="10253B"/>
                </a:solidFill>
                <a:latin typeface="Inter"/>
                <a:ea typeface="Inter"/>
                <a:cs typeface="Inter"/>
              </a:rPr>
              <a:t>Controlled decision and traceable update</a:t>
            </a:r>
          </a:p>
          <a:p xmlns:a="http://schemas.openxmlformats.org/drawingml/2006/main">
            <a:r>
              <a:t/>
            </a:r>
          </a:p>
          <a:p xmlns:a="http://schemas.openxmlformats.org/drawingml/2006/main">
            <a:pPr algn="l">
              <a:lnSpc>
                <a:spcPct val="108000"/>
              </a:lnSpc>
              <a:buNone/>
              <a:defRPr sz="1500" b="0">
                <a:solidFill>
                  <a:srgbClr val="10253B"/>
                </a:solidFill>
                <a:latin typeface="Inter"/>
                <a:ea typeface="Inter"/>
                <a:cs typeface="Inter"/>
              </a:defRPr>
            </a:pPr>
            <a:r>
              <a:rPr sz="1500" b="0">
                <a:solidFill>
                  <a:srgbClr val="10253B"/>
                </a:solidFill>
                <a:latin typeface="Inter"/>
                <a:ea typeface="Inter"/>
                <a:cs typeface="Inter"/>
              </a:rPr>
              <a:t>Leadership readout from the same synthetic record</a:t>
            </a:r>
          </a:p>
        </p:txBody>
      </p:sp>
      <p:sp>
        <p:nvSpPr>
          <p:cNvPr id="12" name="">
            <a:extLst xmlns:a="http://schemas.openxmlformats.org/drawingml/2006/main">
              <a:ext uri="{FF2B5EF4-FFF2-40B4-BE49-F238E27FC236}">
                <a16:creationId xmlns:a16="http://schemas.microsoft.com/office/drawing/2014/main" id="{4A6E118B-B3F6-4D12-A222-22E3BC588876}"/>
              </a:ext>
            </a:extLst>
          </p:cNvPr>
          <p:cNvSpPr>
            <a:spLocks xmlns:a="http://schemas.openxmlformats.org/drawingml/2006/main" noGrp="1"/>
          </p:cNvSpPr>
          <p:nvPr/>
        </p:nvSpPr>
        <p:spPr>
          <a:xfrm xmlns:a="http://schemas.openxmlformats.org/drawingml/2006/main">
            <a:off x="4686300" y="4457700"/>
            <a:ext cx="6419850" cy="9525"/>
          </a:xfrm>
          <a:prstGeom xmlns:a="http://schemas.openxmlformats.org/drawingml/2006/main" prst="rect">
            <a:avLst/>
          </a:prstGeom>
          <a:solidFill xmlns:a="http://schemas.openxmlformats.org/drawingml/2006/main">
            <a:srgbClr val="CBD9E7"/>
          </a:solidFill>
          <a:ln xmlns:a="http://schemas.openxmlformats.org/drawingml/2006/main" w="0">
            <a:solidFill>
              <a:srgbClr val="CBD9E7"/>
            </a:solidFill>
            <a:prstDash val="solid"/>
          </a:ln>
        </p:spPr>
      </p:sp>
      <p:sp>
        <p:nvSpPr>
          <p:cNvPr id="13" name="">
            <a:extLst xmlns:a="http://schemas.openxmlformats.org/drawingml/2006/main">
              <a:ext uri="{FF2B5EF4-FFF2-40B4-BE49-F238E27FC236}">
                <a16:creationId xmlns:a16="http://schemas.microsoft.com/office/drawing/2014/main" id="{32705273-480B-4CD9-B812-0C43F8BEF4AC}"/>
              </a:ext>
            </a:extLst>
          </p:cNvPr>
          <p:cNvSpPr>
            <a:spLocks xmlns:a="http://schemas.openxmlformats.org/drawingml/2006/main" noGrp="1"/>
          </p:cNvSpPr>
          <p:nvPr/>
        </p:nvSpPr>
        <p:spPr>
          <a:xfrm xmlns:a="http://schemas.openxmlformats.org/drawingml/2006/main">
            <a:off x="4686300" y="47244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3A712"/>
                </a:solidFill>
                <a:latin typeface="Inter"/>
                <a:ea typeface="Inter"/>
                <a:cs typeface="Inter"/>
              </a:defRPr>
            </a:pPr>
            <a:r>
              <a:rPr sz="1050" b="1">
                <a:solidFill>
                  <a:srgbClr val="F3A712"/>
                </a:solidFill>
                <a:latin typeface="Inter"/>
                <a:ea typeface="Inter"/>
                <a:cs typeface="Inter"/>
              </a:rPr>
              <a:t>MUST BE PROVEN BEFORE A PILOT</a:t>
            </a:r>
          </a:p>
        </p:txBody>
      </p:sp>
      <p:sp>
        <p:nvSpPr>
          <p:cNvPr id="14" name="">
            <a:extLst xmlns:a="http://schemas.openxmlformats.org/drawingml/2006/main">
              <a:ext uri="{FF2B5EF4-FFF2-40B4-BE49-F238E27FC236}">
                <a16:creationId xmlns:a16="http://schemas.microsoft.com/office/drawing/2014/main" id="{19015365-D35A-437F-9A22-0E7965BB781D}"/>
              </a:ext>
            </a:extLst>
          </p:cNvPr>
          <p:cNvSpPr>
            <a:spLocks xmlns:a="http://schemas.openxmlformats.org/drawingml/2006/main" noGrp="1"/>
          </p:cNvSpPr>
          <p:nvPr/>
        </p:nvSpPr>
        <p:spPr>
          <a:xfrm xmlns:a="http://schemas.openxmlformats.org/drawingml/2006/main">
            <a:off x="4686300" y="5143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0253B"/>
                </a:solidFill>
                <a:latin typeface="Inter"/>
                <a:ea typeface="Inter"/>
                <a:cs typeface="Inter"/>
              </a:defRPr>
            </a:pPr>
            <a:r>
              <a:rPr sz="1500" b="0">
                <a:solidFill>
                  <a:srgbClr val="10253B"/>
                </a:solidFill>
                <a:latin typeface="Inter"/>
                <a:ea typeface="Inter"/>
                <a:cs typeface="Inter"/>
              </a:rPr>
              <a:t>Workflow fit and migration fidelity</a:t>
            </a:r>
          </a:p>
          <a:p xmlns:a="http://schemas.openxmlformats.org/drawingml/2006/main">
            <a:r>
              <a:t/>
            </a:r>
          </a:p>
          <a:p xmlns:a="http://schemas.openxmlformats.org/drawingml/2006/main">
            <a:pPr algn="l">
              <a:lnSpc>
                <a:spcPct val="108000"/>
              </a:lnSpc>
              <a:buNone/>
              <a:defRPr sz="1500" b="0">
                <a:solidFill>
                  <a:srgbClr val="10253B"/>
                </a:solidFill>
                <a:latin typeface="Inter"/>
                <a:ea typeface="Inter"/>
                <a:cs typeface="Inter"/>
              </a:defRPr>
            </a:pPr>
            <a:r>
              <a:rPr sz="1500" b="0">
                <a:solidFill>
                  <a:srgbClr val="10253B"/>
                </a:solidFill>
                <a:latin typeface="Inter"/>
                <a:ea typeface="Inter"/>
                <a:cs typeface="Inter"/>
              </a:rPr>
              <a:t>Security, scale, integrations, and operations</a:t>
            </a:r>
          </a:p>
        </p:txBody>
      </p:sp>
      <p:sp>
        <p:nvSpPr>
          <p:cNvPr id="15" name="">
            <a:extLst xmlns:a="http://schemas.openxmlformats.org/drawingml/2006/main">
              <a:ext uri="{FF2B5EF4-FFF2-40B4-BE49-F238E27FC236}">
                <a16:creationId xmlns:a16="http://schemas.microsoft.com/office/drawing/2014/main" id="{BB16B68D-D473-452C-B716-0C9126B1DE31}"/>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C7084"/>
                </a:solidFill>
                <a:latin typeface="Inter"/>
                <a:ea typeface="Inter"/>
                <a:cs typeface="Inter"/>
              </a:defRPr>
            </a:pPr>
            <a:r>
              <a:rPr sz="825" b="1">
                <a:solidFill>
                  <a:srgbClr val="5C7084"/>
                </a:solidFill>
                <a:latin typeface="Inter"/>
                <a:ea typeface="Inter"/>
                <a:cs typeface="Inter"/>
              </a:rPr>
              <a:t>CONCEPT DEMO — SYNTHETIC DATA</a:t>
            </a:r>
          </a:p>
        </p:txBody>
      </p:sp>
    </p:spTree>
    <p:extLst>
      <p:ext uri="{BB962C8B-B14F-4D97-AF65-F5344CB8AC3E}">
        <p14:creationId xmlns:p14="http://schemas.microsoft.com/office/powerpoint/2010/main" val="1438438722"/>
      </p:ext>
    </p:extLst>
  </p:cSld>
</p:sld>
</file>

<file path=ppt/slides/slide7.xml><?xml version="1.0" encoding="utf-8"?>
<p:sld xmlns:p="http://schemas.openxmlformats.org/presentationml/2006/main">
  <p:cSld>
    <p:bg>
      <p:bgPr>
        <a:solidFill xmlns:a="http://schemas.openxmlformats.org/drawingml/2006/main">
          <a:srgbClr val="071A2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8EC64C-7978-4FF8-A159-1D3112C58E88}"/>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90D2FF"/>
                </a:solidFill>
                <a:latin typeface="Inter"/>
                <a:ea typeface="Inter"/>
                <a:cs typeface="Inter"/>
              </a:defRPr>
            </a:pPr>
            <a:r>
              <a:rPr sz="975" b="1">
                <a:solidFill>
                  <a:srgbClr val="90D2FF"/>
                </a:solidFill>
                <a:latin typeface="Inter"/>
                <a:ea typeface="Inter"/>
                <a:cs typeface="Inter"/>
              </a:rPr>
              <a:t>PROGRAM CONTROL · LEADERSHIP CONCEPT</a:t>
            </a:r>
          </a:p>
        </p:txBody>
      </p:sp>
      <p:sp>
        <p:nvSpPr>
          <p:cNvPr id="2" name="">
            <a:extLst xmlns:a="http://schemas.openxmlformats.org/drawingml/2006/main">
              <a:ext uri="{FF2B5EF4-FFF2-40B4-BE49-F238E27FC236}">
                <a16:creationId xmlns:a16="http://schemas.microsoft.com/office/drawing/2014/main" id="{30F59BF4-F5C6-4A13-B7D6-0C2C4516CAC0}"/>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9CCE0"/>
                </a:solidFill>
                <a:latin typeface="Inter"/>
                <a:ea typeface="Inter"/>
                <a:cs typeface="Inter"/>
              </a:defRPr>
            </a:pPr>
            <a:r>
              <a:rPr sz="975" b="1">
                <a:solidFill>
                  <a:srgbClr val="B9CCE0"/>
                </a:solidFill>
                <a:latin typeface="Inter"/>
                <a:ea typeface="Inter"/>
                <a:cs typeface="Inter"/>
              </a:rPr>
              <a:t>07</a:t>
            </a:r>
          </a:p>
        </p:txBody>
      </p:sp>
      <p:sp>
        <p:nvSpPr>
          <p:cNvPr id="3" name="">
            <a:extLst xmlns:a="http://schemas.openxmlformats.org/drawingml/2006/main">
              <a:ext uri="{FF2B5EF4-FFF2-40B4-BE49-F238E27FC236}">
                <a16:creationId xmlns:a16="http://schemas.microsoft.com/office/drawing/2014/main" id="{DFB95299-1C9E-4DD0-A915-E8663C0FB43F}"/>
              </a:ext>
            </a:extLst>
          </p:cNvPr>
          <p:cNvSpPr>
            <a:spLocks xmlns:a="http://schemas.openxmlformats.org/drawingml/2006/main" noGrp="1"/>
          </p:cNvSpPr>
          <p:nvPr/>
        </p:nvSpPr>
        <p:spPr>
          <a:xfrm xmlns:a="http://schemas.openxmlformats.org/drawingml/2006/main">
            <a:off x="723900" y="7429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FFFFFF"/>
                </a:solidFill>
                <a:latin typeface="Inter"/>
                <a:ea typeface="Inter"/>
                <a:cs typeface="Inter"/>
              </a:defRPr>
            </a:pPr>
            <a:r>
              <a:rPr sz="3000" b="1">
                <a:solidFill>
                  <a:srgbClr val="FFFFFF"/>
                </a:solidFill>
                <a:latin typeface="Inter"/>
                <a:ea typeface="Inter"/>
                <a:cs typeface="Inter"/>
              </a:rPr>
              <a:t>What should we test next?</a:t>
            </a:r>
          </a:p>
        </p:txBody>
      </p:sp>
      <p:sp>
        <p:nvSpPr>
          <p:cNvPr id="4" name="">
            <a:extLst xmlns:a="http://schemas.openxmlformats.org/drawingml/2006/main">
              <a:ext uri="{FF2B5EF4-FFF2-40B4-BE49-F238E27FC236}">
                <a16:creationId xmlns:a16="http://schemas.microsoft.com/office/drawing/2014/main" id="{3F4E1B04-4CA2-4F1F-9202-62E58646F485}"/>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5" name="">
            <a:extLst xmlns:a="http://schemas.openxmlformats.org/drawingml/2006/main">
              <a:ext uri="{FF2B5EF4-FFF2-40B4-BE49-F238E27FC236}">
                <a16:creationId xmlns:a16="http://schemas.microsoft.com/office/drawing/2014/main" id="{B19E53EB-9BB0-4D7A-A075-303A0E0D44CC}"/>
              </a:ext>
            </a:extLst>
          </p:cNvPr>
          <p:cNvSpPr>
            <a:spLocks xmlns:a="http://schemas.openxmlformats.org/drawingml/2006/main" noGrp="1"/>
          </p:cNvSpPr>
          <p:nvPr/>
        </p:nvSpPr>
        <p:spPr>
          <a:xfrm xmlns:a="http://schemas.openxmlformats.org/drawingml/2006/main">
            <a:off x="676275" y="1971675"/>
            <a:ext cx="5962650" cy="3752850"/>
          </a:xfrm>
          <a:prstGeom xmlns:a="http://schemas.openxmlformats.org/drawingml/2006/main" prst="roundRect">
            <a:avLst>
              <a:gd name="adj" fmla="val 4061"/>
            </a:avLst>
          </a:prstGeom>
          <a:solidFill xmlns:a="http://schemas.openxmlformats.org/drawingml/2006/main">
            <a:srgbClr val="0B2947"/>
          </a:solidFill>
          <a:ln xmlns:a="http://schemas.openxmlformats.org/drawingml/2006/main" w="9525">
            <a:solidFill>
              <a:srgbClr val="214B70"/>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d0614835b4447ce"/>
          <a:srcRect xmlns:a="http://schemas.openxmlformats.org/drawingml/2006/main" l="0" t="130" r="0" b="130"/>
          <a:stretch xmlns:a="http://schemas.openxmlformats.org/drawingml/2006/main">
            <a:fillRect l="0" t="0" r="0" b="0"/>
          </a:stretch>
        </p:blipFill>
        <p:spPr>
          <a:xfrm xmlns:a="http://schemas.openxmlformats.org/drawingml/2006/main">
            <a:off x="723900" y="2019300"/>
            <a:ext cx="5867400" cy="3657600"/>
          </a:xfrm>
          <a:prstGeom xmlns:a="http://schemas.openxmlformats.org/drawingml/2006/main" prst="roundRect">
            <a:avLst>
              <a:gd name="adj" fmla="val 3125"/>
            </a:avLst>
          </a:prstGeom>
        </p:spPr>
      </p:pic>
      <p:sp>
        <p:nvSpPr>
          <p:cNvPr id="7" name="">
            <a:extLst xmlns:a="http://schemas.openxmlformats.org/drawingml/2006/main">
              <a:ext uri="{FF2B5EF4-FFF2-40B4-BE49-F238E27FC236}">
                <a16:creationId xmlns:a16="http://schemas.microsoft.com/office/drawing/2014/main" id="{D4B15C86-8D53-423D-851D-C0B381C782F5}"/>
              </a:ext>
            </a:extLst>
          </p:cNvPr>
          <p:cNvSpPr>
            <a:spLocks xmlns:a="http://schemas.openxmlformats.org/drawingml/2006/main" noGrp="1"/>
          </p:cNvSpPr>
          <p:nvPr/>
        </p:nvSpPr>
        <p:spPr>
          <a:xfrm xmlns:a="http://schemas.openxmlformats.org/drawingml/2006/main">
            <a:off x="6953250" y="1809750"/>
            <a:ext cx="4552950" cy="4114800"/>
          </a:xfrm>
          <a:prstGeom xmlns:a="http://schemas.openxmlformats.org/drawingml/2006/main" prst="roundRect">
            <a:avLst>
              <a:gd name="adj" fmla="val 5093"/>
            </a:avLst>
          </a:prstGeom>
          <a:solidFill xmlns:a="http://schemas.openxmlformats.org/drawingml/2006/main">
            <a:srgbClr val="FFFFFF"/>
          </a:solidFill>
          <a:ln xmlns:a="http://schemas.openxmlformats.org/drawingml/2006/main" w="9525">
            <a:solidFill>
              <a:srgbClr val="214B7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1FCD5E3F-55C4-44A2-B6F6-402A4A3B996A}"/>
              </a:ext>
            </a:extLst>
          </p:cNvPr>
          <p:cNvSpPr>
            <a:spLocks xmlns:a="http://schemas.openxmlformats.org/drawingml/2006/main" noGrp="1"/>
          </p:cNvSpPr>
          <p:nvPr/>
        </p:nvSpPr>
        <p:spPr>
          <a:xfrm xmlns:a="http://schemas.openxmlformats.org/drawingml/2006/main">
            <a:off x="7277100" y="2133600"/>
            <a:ext cx="400050" cy="400050"/>
          </a:xfrm>
          <a:prstGeom xmlns:a="http://schemas.openxmlformats.org/drawingml/2006/main" prst="roundRect">
            <a:avLst>
              <a:gd name="adj" fmla="val 50000"/>
            </a:avLst>
          </a:prstGeom>
          <a:solidFill xmlns:a="http://schemas.openxmlformats.org/drawingml/2006/main">
            <a:srgbClr val="EAF4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60123A-E581-492E-B098-9960B3B09D01}"/>
              </a:ext>
            </a:extLst>
          </p:cNvPr>
          <p:cNvSpPr>
            <a:spLocks xmlns:a="http://schemas.openxmlformats.org/drawingml/2006/main" noGrp="1"/>
          </p:cNvSpPr>
          <p:nvPr/>
        </p:nvSpPr>
        <p:spPr>
          <a:xfrm xmlns:a="http://schemas.openxmlformats.org/drawingml/2006/main">
            <a:off x="7277100" y="22002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1477F8"/>
                </a:solidFill>
                <a:latin typeface="Inter"/>
                <a:ea typeface="Inter"/>
                <a:cs typeface="Inter"/>
              </a:defRPr>
            </a:pPr>
            <a:r>
              <a:rPr sz="1350" b="1">
                <a:solidFill>
                  <a:srgbClr val="1477F8"/>
                </a:solidFill>
                <a:latin typeface="Inter"/>
                <a:ea typeface="Inter"/>
                <a:cs typeface="Inter"/>
              </a:rPr>
              <a:t>1</a:t>
            </a:r>
          </a:p>
        </p:txBody>
      </p:sp>
      <p:sp>
        <p:nvSpPr>
          <p:cNvPr id="10" name="">
            <a:extLst xmlns:a="http://schemas.openxmlformats.org/drawingml/2006/main">
              <a:ext uri="{FF2B5EF4-FFF2-40B4-BE49-F238E27FC236}">
                <a16:creationId xmlns:a16="http://schemas.microsoft.com/office/drawing/2014/main" id="{50B1C343-03C1-4325-AFDC-B8794519B245}"/>
              </a:ext>
            </a:extLst>
          </p:cNvPr>
          <p:cNvSpPr>
            <a:spLocks xmlns:a="http://schemas.openxmlformats.org/drawingml/2006/main" noGrp="1"/>
          </p:cNvSpPr>
          <p:nvPr/>
        </p:nvSpPr>
        <p:spPr>
          <a:xfrm xmlns:a="http://schemas.openxmlformats.org/drawingml/2006/main">
            <a:off x="7905750" y="2114550"/>
            <a:ext cx="320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0253B"/>
                </a:solidFill>
                <a:latin typeface="Inter"/>
                <a:ea typeface="Inter"/>
                <a:cs typeface="Inter"/>
              </a:defRPr>
            </a:pPr>
            <a:r>
              <a:rPr sz="1500" b="1">
                <a:solidFill>
                  <a:srgbClr val="10253B"/>
                </a:solidFill>
                <a:latin typeface="Inter"/>
                <a:ea typeface="Inter"/>
                <a:cs typeface="Inter"/>
              </a:rPr>
              <a:t>Where would this create the most value?</a:t>
            </a:r>
          </a:p>
        </p:txBody>
      </p:sp>
      <p:sp>
        <p:nvSpPr>
          <p:cNvPr id="11" name="">
            <a:extLst xmlns:a="http://schemas.openxmlformats.org/drawingml/2006/main">
              <a:ext uri="{FF2B5EF4-FFF2-40B4-BE49-F238E27FC236}">
                <a16:creationId xmlns:a16="http://schemas.microsoft.com/office/drawing/2014/main" id="{FE2196F9-4DA2-4A30-A5C5-93FC74947684}"/>
              </a:ext>
            </a:extLst>
          </p:cNvPr>
          <p:cNvSpPr>
            <a:spLocks xmlns:a="http://schemas.openxmlformats.org/drawingml/2006/main" noGrp="1"/>
          </p:cNvSpPr>
          <p:nvPr/>
        </p:nvSpPr>
        <p:spPr>
          <a:xfrm xmlns:a="http://schemas.openxmlformats.org/drawingml/2006/main">
            <a:off x="7905750" y="3028950"/>
            <a:ext cx="3200400" cy="9525"/>
          </a:xfrm>
          <a:prstGeom xmlns:a="http://schemas.openxmlformats.org/drawingml/2006/main" prst="rect">
            <a:avLst/>
          </a:prstGeom>
          <a:solidFill xmlns:a="http://schemas.openxmlformats.org/drawingml/2006/main">
            <a:srgbClr val="CBD9E7"/>
          </a:solidFill>
          <a:ln xmlns:a="http://schemas.openxmlformats.org/drawingml/2006/main" w="0">
            <a:solidFill>
              <a:srgbClr val="CBD9E7"/>
            </a:solidFill>
            <a:prstDash val="solid"/>
          </a:ln>
        </p:spPr>
      </p:sp>
      <p:sp>
        <p:nvSpPr>
          <p:cNvPr id="12" name="">
            <a:extLst xmlns:a="http://schemas.openxmlformats.org/drawingml/2006/main">
              <a:ext uri="{FF2B5EF4-FFF2-40B4-BE49-F238E27FC236}">
                <a16:creationId xmlns:a16="http://schemas.microsoft.com/office/drawing/2014/main" id="{11536D7B-37FE-4DE0-B8CE-55468468FD44}"/>
              </a:ext>
            </a:extLst>
          </p:cNvPr>
          <p:cNvSpPr>
            <a:spLocks xmlns:a="http://schemas.openxmlformats.org/drawingml/2006/main" noGrp="1"/>
          </p:cNvSpPr>
          <p:nvPr/>
        </p:nvSpPr>
        <p:spPr>
          <a:xfrm xmlns:a="http://schemas.openxmlformats.org/drawingml/2006/main">
            <a:off x="7277100" y="3333750"/>
            <a:ext cx="400050" cy="400050"/>
          </a:xfrm>
          <a:prstGeom xmlns:a="http://schemas.openxmlformats.org/drawingml/2006/main" prst="roundRect">
            <a:avLst>
              <a:gd name="adj" fmla="val 50000"/>
            </a:avLst>
          </a:prstGeom>
          <a:solidFill xmlns:a="http://schemas.openxmlformats.org/drawingml/2006/main">
            <a:srgbClr val="EAF4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55DD68B-58F1-40E5-970D-086ED25E2257}"/>
              </a:ext>
            </a:extLst>
          </p:cNvPr>
          <p:cNvSpPr>
            <a:spLocks xmlns:a="http://schemas.openxmlformats.org/drawingml/2006/main" noGrp="1"/>
          </p:cNvSpPr>
          <p:nvPr/>
        </p:nvSpPr>
        <p:spPr>
          <a:xfrm xmlns:a="http://schemas.openxmlformats.org/drawingml/2006/main">
            <a:off x="7277100" y="34004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1477F8"/>
                </a:solidFill>
                <a:latin typeface="Inter"/>
                <a:ea typeface="Inter"/>
                <a:cs typeface="Inter"/>
              </a:defRPr>
            </a:pPr>
            <a:r>
              <a:rPr sz="1350" b="1">
                <a:solidFill>
                  <a:srgbClr val="1477F8"/>
                </a:solidFill>
                <a:latin typeface="Inter"/>
                <a:ea typeface="Inter"/>
                <a:cs typeface="Inter"/>
              </a:rPr>
              <a:t>2</a:t>
            </a:r>
          </a:p>
        </p:txBody>
      </p:sp>
      <p:sp>
        <p:nvSpPr>
          <p:cNvPr id="14" name="">
            <a:extLst xmlns:a="http://schemas.openxmlformats.org/drawingml/2006/main">
              <a:ext uri="{FF2B5EF4-FFF2-40B4-BE49-F238E27FC236}">
                <a16:creationId xmlns:a16="http://schemas.microsoft.com/office/drawing/2014/main" id="{6D369215-ADE8-4051-AE89-7DB2959C285C}"/>
              </a:ext>
            </a:extLst>
          </p:cNvPr>
          <p:cNvSpPr>
            <a:spLocks xmlns:a="http://schemas.openxmlformats.org/drawingml/2006/main" noGrp="1"/>
          </p:cNvSpPr>
          <p:nvPr/>
        </p:nvSpPr>
        <p:spPr>
          <a:xfrm xmlns:a="http://schemas.openxmlformats.org/drawingml/2006/main">
            <a:off x="7905750" y="3314700"/>
            <a:ext cx="320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0253B"/>
                </a:solidFill>
                <a:latin typeface="Inter"/>
                <a:ea typeface="Inter"/>
                <a:cs typeface="Inter"/>
              </a:defRPr>
            </a:pPr>
            <a:r>
              <a:rPr sz="1500" b="1">
                <a:solidFill>
                  <a:srgbClr val="10253B"/>
                </a:solidFill>
                <a:latin typeface="Inter"/>
                <a:ea typeface="Inter"/>
                <a:cs typeface="Inter"/>
              </a:rPr>
              <a:t>Which existing workflow should be demonstrated next?</a:t>
            </a:r>
          </a:p>
        </p:txBody>
      </p:sp>
      <p:sp>
        <p:nvSpPr>
          <p:cNvPr id="15" name="">
            <a:extLst xmlns:a="http://schemas.openxmlformats.org/drawingml/2006/main">
              <a:ext uri="{FF2B5EF4-FFF2-40B4-BE49-F238E27FC236}">
                <a16:creationId xmlns:a16="http://schemas.microsoft.com/office/drawing/2014/main" id="{90AB0E9A-95BF-482F-886E-6B8C21EF0C90}"/>
              </a:ext>
            </a:extLst>
          </p:cNvPr>
          <p:cNvSpPr>
            <a:spLocks xmlns:a="http://schemas.openxmlformats.org/drawingml/2006/main" noGrp="1"/>
          </p:cNvSpPr>
          <p:nvPr/>
        </p:nvSpPr>
        <p:spPr>
          <a:xfrm xmlns:a="http://schemas.openxmlformats.org/drawingml/2006/main">
            <a:off x="7905750" y="4229100"/>
            <a:ext cx="3200400" cy="9525"/>
          </a:xfrm>
          <a:prstGeom xmlns:a="http://schemas.openxmlformats.org/drawingml/2006/main" prst="rect">
            <a:avLst/>
          </a:prstGeom>
          <a:solidFill xmlns:a="http://schemas.openxmlformats.org/drawingml/2006/main">
            <a:srgbClr val="CBD9E7"/>
          </a:solidFill>
          <a:ln xmlns:a="http://schemas.openxmlformats.org/drawingml/2006/main" w="0">
            <a:solidFill>
              <a:srgbClr val="CBD9E7"/>
            </a:solidFill>
            <a:prstDash val="solid"/>
          </a:ln>
        </p:spPr>
      </p:sp>
      <p:sp>
        <p:nvSpPr>
          <p:cNvPr id="16" name="">
            <a:extLst xmlns:a="http://schemas.openxmlformats.org/drawingml/2006/main">
              <a:ext uri="{FF2B5EF4-FFF2-40B4-BE49-F238E27FC236}">
                <a16:creationId xmlns:a16="http://schemas.microsoft.com/office/drawing/2014/main" id="{CD896562-E924-40E2-AF03-42933EDF8CEB}"/>
              </a:ext>
            </a:extLst>
          </p:cNvPr>
          <p:cNvSpPr>
            <a:spLocks xmlns:a="http://schemas.openxmlformats.org/drawingml/2006/main" noGrp="1"/>
          </p:cNvSpPr>
          <p:nvPr/>
        </p:nvSpPr>
        <p:spPr>
          <a:xfrm xmlns:a="http://schemas.openxmlformats.org/drawingml/2006/main">
            <a:off x="7277100" y="4533900"/>
            <a:ext cx="400050" cy="400050"/>
          </a:xfrm>
          <a:prstGeom xmlns:a="http://schemas.openxmlformats.org/drawingml/2006/main" prst="roundRect">
            <a:avLst>
              <a:gd name="adj" fmla="val 50000"/>
            </a:avLst>
          </a:prstGeom>
          <a:solidFill xmlns:a="http://schemas.openxmlformats.org/drawingml/2006/main">
            <a:srgbClr val="FFF1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BBAC25-7F31-43C7-9C3B-70312F8477A9}"/>
              </a:ext>
            </a:extLst>
          </p:cNvPr>
          <p:cNvSpPr>
            <a:spLocks xmlns:a="http://schemas.openxmlformats.org/drawingml/2006/main" noGrp="1"/>
          </p:cNvSpPr>
          <p:nvPr/>
        </p:nvSpPr>
        <p:spPr>
          <a:xfrm xmlns:a="http://schemas.openxmlformats.org/drawingml/2006/main">
            <a:off x="7277100" y="46005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7B4D00"/>
                </a:solidFill>
                <a:latin typeface="Inter"/>
                <a:ea typeface="Inter"/>
                <a:cs typeface="Inter"/>
              </a:defRPr>
            </a:pPr>
            <a:r>
              <a:rPr sz="1350" b="1">
                <a:solidFill>
                  <a:srgbClr val="7B4D00"/>
                </a:solidFill>
                <a:latin typeface="Inter"/>
                <a:ea typeface="Inter"/>
                <a:cs typeface="Inter"/>
              </a:rPr>
              <a:t>3</a:t>
            </a:r>
          </a:p>
        </p:txBody>
      </p:sp>
      <p:sp>
        <p:nvSpPr>
          <p:cNvPr id="18" name="">
            <a:extLst xmlns:a="http://schemas.openxmlformats.org/drawingml/2006/main">
              <a:ext uri="{FF2B5EF4-FFF2-40B4-BE49-F238E27FC236}">
                <a16:creationId xmlns:a16="http://schemas.microsoft.com/office/drawing/2014/main" id="{E720129E-15FD-4358-B2F6-039E36F25570}"/>
              </a:ext>
            </a:extLst>
          </p:cNvPr>
          <p:cNvSpPr>
            <a:spLocks xmlns:a="http://schemas.openxmlformats.org/drawingml/2006/main" noGrp="1"/>
          </p:cNvSpPr>
          <p:nvPr/>
        </p:nvSpPr>
        <p:spPr>
          <a:xfrm xmlns:a="http://schemas.openxmlformats.org/drawingml/2006/main">
            <a:off x="7905750" y="4514850"/>
            <a:ext cx="320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10253B"/>
                </a:solidFill>
                <a:latin typeface="Inter"/>
                <a:ea typeface="Inter"/>
                <a:cs typeface="Inter"/>
              </a:defRPr>
            </a:pPr>
            <a:r>
              <a:rPr sz="1500" b="1">
                <a:solidFill>
                  <a:srgbClr val="10253B"/>
                </a:solidFill>
                <a:latin typeface="Inter"/>
                <a:ea typeface="Inter"/>
                <a:cs typeface="Inter"/>
              </a:rPr>
              <a:t>What requirement or concern must be addressed before considering a pilot?</a:t>
            </a:r>
          </a:p>
        </p:txBody>
      </p:sp>
      <p:sp>
        <p:nvSpPr>
          <p:cNvPr id="19" name="">
            <a:extLst xmlns:a="http://schemas.openxmlformats.org/drawingml/2006/main">
              <a:ext uri="{FF2B5EF4-FFF2-40B4-BE49-F238E27FC236}">
                <a16:creationId xmlns:a16="http://schemas.microsoft.com/office/drawing/2014/main" id="{A60E768A-FA63-4347-A08F-B36E17D1A8B3}"/>
              </a:ext>
            </a:extLst>
          </p:cNvPr>
          <p:cNvSpPr>
            <a:spLocks xmlns:a="http://schemas.openxmlformats.org/drawingml/2006/main" noGrp="1"/>
          </p:cNvSpPr>
          <p:nvPr/>
        </p:nvSpPr>
        <p:spPr>
          <a:xfrm xmlns:a="http://schemas.openxmlformats.org/drawingml/2006/main">
            <a:off x="723900" y="5962650"/>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C4D5E6"/>
                </a:solidFill>
                <a:latin typeface="Inter"/>
                <a:ea typeface="Inter"/>
                <a:cs typeface="Inter"/>
              </a:defRPr>
            </a:pPr>
            <a:r>
              <a:rPr sz="1200" b="0">
                <a:solidFill>
                  <a:srgbClr val="C4D5E6"/>
                </a:solidFill>
                <a:latin typeface="Inter"/>
                <a:ea typeface="Inter"/>
                <a:cs typeface="Inter"/>
              </a:rPr>
              <a:t>Feedback and requirement discovery — not approval or funding.</a:t>
            </a:r>
          </a:p>
        </p:txBody>
      </p:sp>
      <p:sp>
        <p:nvSpPr>
          <p:cNvPr id="20" name="">
            <a:extLst xmlns:a="http://schemas.openxmlformats.org/drawingml/2006/main">
              <a:ext uri="{FF2B5EF4-FFF2-40B4-BE49-F238E27FC236}">
                <a16:creationId xmlns:a16="http://schemas.microsoft.com/office/drawing/2014/main" id="{8282CE0F-24A4-41CC-ADBB-51BE1D6B3607}"/>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B9CCE0"/>
                </a:solidFill>
                <a:latin typeface="Inter"/>
                <a:ea typeface="Inter"/>
                <a:cs typeface="Inter"/>
              </a:defRPr>
            </a:pPr>
            <a:r>
              <a:rPr sz="825" b="1">
                <a:solidFill>
                  <a:srgbClr val="B9CCE0"/>
                </a:solidFill>
                <a:latin typeface="Inter"/>
                <a:ea typeface="Inter"/>
                <a:cs typeface="Inter"/>
              </a:rPr>
              <a:t>CONCEPT DEMO — SYNTHETIC DATA</a:t>
            </a:r>
          </a:p>
        </p:txBody>
      </p:sp>
    </p:spTree>
    <p:extLst>
      <p:ext uri="{BB962C8B-B14F-4D97-AF65-F5344CB8AC3E}">
        <p14:creationId xmlns:p14="http://schemas.microsoft.com/office/powerpoint/2010/main" val="475138060"/>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FA877DA-EA71-4737-A0C4-A7C71A3091D6}"/>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1477F8"/>
                </a:solidFill>
                <a:latin typeface="Inter"/>
                <a:ea typeface="Inter"/>
                <a:cs typeface="Inter"/>
              </a:defRPr>
            </a:pPr>
            <a:r>
              <a:rPr sz="975" b="1">
                <a:solidFill>
                  <a:srgbClr val="1477F8"/>
                </a:solidFill>
                <a:latin typeface="Inter"/>
                <a:ea typeface="Inter"/>
                <a:cs typeface="Inter"/>
              </a:rPr>
              <a:t>PROGRAM CONTROL · APPENDIX</a:t>
            </a:r>
          </a:p>
        </p:txBody>
      </p:sp>
      <p:sp>
        <p:nvSpPr>
          <p:cNvPr id="2" name="">
            <a:extLst xmlns:a="http://schemas.openxmlformats.org/drawingml/2006/main">
              <a:ext uri="{FF2B5EF4-FFF2-40B4-BE49-F238E27FC236}">
                <a16:creationId xmlns:a16="http://schemas.microsoft.com/office/drawing/2014/main" id="{9D9ED450-B986-439A-962F-A6AF20AC97AF}"/>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08</a:t>
            </a:r>
          </a:p>
        </p:txBody>
      </p:sp>
      <p:sp>
        <p:nvSpPr>
          <p:cNvPr id="3" name="">
            <a:extLst xmlns:a="http://schemas.openxmlformats.org/drawingml/2006/main">
              <a:ext uri="{FF2B5EF4-FFF2-40B4-BE49-F238E27FC236}">
                <a16:creationId xmlns:a16="http://schemas.microsoft.com/office/drawing/2014/main" id="{55DBE511-0147-4863-A2D6-B5641103B749}"/>
              </a:ext>
            </a:extLst>
          </p:cNvPr>
          <p:cNvSpPr>
            <a:spLocks xmlns:a="http://schemas.openxmlformats.org/drawingml/2006/main" noGrp="1"/>
          </p:cNvSpPr>
          <p:nvPr/>
        </p:nvSpPr>
        <p:spPr>
          <a:xfrm xmlns:a="http://schemas.openxmlformats.org/drawingml/2006/main">
            <a:off x="723900" y="7429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10253B"/>
                </a:solidFill>
                <a:latin typeface="Inter"/>
                <a:ea typeface="Inter"/>
                <a:cs typeface="Inter"/>
              </a:defRPr>
            </a:pPr>
            <a:r>
              <a:rPr sz="3000" b="1">
                <a:solidFill>
                  <a:srgbClr val="10253B"/>
                </a:solidFill>
                <a:latin typeface="Inter"/>
                <a:ea typeface="Inter"/>
                <a:cs typeface="Inter"/>
              </a:rPr>
              <a:t>The production path extends Program Control’s control boundary.</a:t>
            </a:r>
          </a:p>
        </p:txBody>
      </p:sp>
      <p:sp>
        <p:nvSpPr>
          <p:cNvPr id="4" name="">
            <a:extLst xmlns:a="http://schemas.openxmlformats.org/drawingml/2006/main">
              <a:ext uri="{FF2B5EF4-FFF2-40B4-BE49-F238E27FC236}">
                <a16:creationId xmlns:a16="http://schemas.microsoft.com/office/drawing/2014/main" id="{BD996734-CDDC-4A52-9753-688EBA9C71A5}"/>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1477F8"/>
          </a:solidFill>
          <a:ln xmlns:a="http://schemas.openxmlformats.org/drawingml/2006/main" w="0">
            <a:solidFill>
              <a:srgbClr val="1477F8"/>
            </a:solidFill>
            <a:prstDash val="solid"/>
          </a:ln>
        </p:spPr>
      </p:sp>
      <p:sp>
        <p:nvSpPr>
          <p:cNvPr id="5" name="">
            <a:extLst xmlns:a="http://schemas.openxmlformats.org/drawingml/2006/main">
              <a:ext uri="{FF2B5EF4-FFF2-40B4-BE49-F238E27FC236}">
                <a16:creationId xmlns:a16="http://schemas.microsoft.com/office/drawing/2014/main" id="{5EF5EB8C-3886-4E76-9EDE-8D70AF8D3762}"/>
              </a:ext>
            </a:extLst>
          </p:cNvPr>
          <p:cNvSpPr>
            <a:spLocks xmlns:a="http://schemas.openxmlformats.org/drawingml/2006/main" noGrp="1"/>
          </p:cNvSpPr>
          <p:nvPr/>
        </p:nvSpPr>
        <p:spPr>
          <a:xfrm xmlns:a="http://schemas.openxmlformats.org/drawingml/2006/main">
            <a:off x="723900" y="2190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EXPERIENCE</a:t>
            </a:r>
          </a:p>
        </p:txBody>
      </p:sp>
      <p:sp>
        <p:nvSpPr>
          <p:cNvPr id="6" name="">
            <a:extLst xmlns:a="http://schemas.openxmlformats.org/drawingml/2006/main">
              <a:ext uri="{FF2B5EF4-FFF2-40B4-BE49-F238E27FC236}">
                <a16:creationId xmlns:a16="http://schemas.microsoft.com/office/drawing/2014/main" id="{F5619AEE-636C-4821-9B3F-EAB05501A3D5}"/>
              </a:ext>
            </a:extLst>
          </p:cNvPr>
          <p:cNvSpPr>
            <a:spLocks xmlns:a="http://schemas.openxmlformats.org/drawingml/2006/main" noGrp="1"/>
          </p:cNvSpPr>
          <p:nvPr/>
        </p:nvSpPr>
        <p:spPr>
          <a:xfrm xmlns:a="http://schemas.openxmlformats.org/drawingml/2006/main">
            <a:off x="2133600" y="1981200"/>
            <a:ext cx="4210050" cy="666750"/>
          </a:xfrm>
          <a:prstGeom xmlns:a="http://schemas.openxmlformats.org/drawingml/2006/main" prst="roundRect">
            <a:avLst>
              <a:gd name="adj" fmla="val 20000"/>
            </a:avLst>
          </a:prstGeom>
          <a:solidFill xmlns:a="http://schemas.openxmlformats.org/drawingml/2006/main">
            <a:srgbClr val="071A2D"/>
          </a:solidFill>
          <a:ln xmlns:a="http://schemas.openxmlformats.org/drawingml/2006/main" w="0">
            <a:solidFill>
              <a:srgbClr val="071A2D"/>
            </a:solidFill>
            <a:prstDash val="solid"/>
          </a:ln>
        </p:spPr>
      </p:sp>
      <p:sp>
        <p:nvSpPr>
          <p:cNvPr id="7" name="">
            <a:extLst xmlns:a="http://schemas.openxmlformats.org/drawingml/2006/main">
              <a:ext uri="{FF2B5EF4-FFF2-40B4-BE49-F238E27FC236}">
                <a16:creationId xmlns:a16="http://schemas.microsoft.com/office/drawing/2014/main" id="{B83E1319-DD9D-4F3E-93E1-9E1583051E91}"/>
              </a:ext>
            </a:extLst>
          </p:cNvPr>
          <p:cNvSpPr>
            <a:spLocks xmlns:a="http://schemas.openxmlformats.org/drawingml/2006/main" noGrp="1"/>
          </p:cNvSpPr>
          <p:nvPr/>
        </p:nvSpPr>
        <p:spPr>
          <a:xfrm xmlns:a="http://schemas.openxmlformats.org/drawingml/2006/main">
            <a:off x="2324100" y="20764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3B3FF"/>
                </a:solidFill>
                <a:latin typeface="Inter"/>
                <a:ea typeface="Inter"/>
                <a:cs typeface="Inter"/>
              </a:defRPr>
            </a:pPr>
            <a:r>
              <a:rPr sz="750" b="1">
                <a:solidFill>
                  <a:srgbClr val="63B3FF"/>
                </a:solidFill>
                <a:latin typeface="Inter"/>
                <a:ea typeface="Inter"/>
                <a:cs typeface="Inter"/>
              </a:rPr>
              <a:t>EXISTING</a:t>
            </a:r>
          </a:p>
        </p:txBody>
      </p:sp>
      <p:sp>
        <p:nvSpPr>
          <p:cNvPr id="8" name="">
            <a:extLst xmlns:a="http://schemas.openxmlformats.org/drawingml/2006/main">
              <a:ext uri="{FF2B5EF4-FFF2-40B4-BE49-F238E27FC236}">
                <a16:creationId xmlns:a16="http://schemas.microsoft.com/office/drawing/2014/main" id="{EB3959C8-513F-46CA-93E1-6D84FAA898F5}"/>
              </a:ext>
            </a:extLst>
          </p:cNvPr>
          <p:cNvSpPr>
            <a:spLocks xmlns:a="http://schemas.openxmlformats.org/drawingml/2006/main" noGrp="1"/>
          </p:cNvSpPr>
          <p:nvPr/>
        </p:nvSpPr>
        <p:spPr>
          <a:xfrm xmlns:a="http://schemas.openxmlformats.org/drawingml/2006/main">
            <a:off x="2324100" y="22860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Dashboard · roadmap · search · briefing</a:t>
            </a:r>
          </a:p>
        </p:txBody>
      </p:sp>
      <p:sp>
        <p:nvSpPr>
          <p:cNvPr id="9" name="">
            <a:extLst xmlns:a="http://schemas.openxmlformats.org/drawingml/2006/main">
              <a:ext uri="{FF2B5EF4-FFF2-40B4-BE49-F238E27FC236}">
                <a16:creationId xmlns:a16="http://schemas.microsoft.com/office/drawing/2014/main" id="{CB604E2B-B4C7-4ECC-ADFC-5C8103328F68}"/>
              </a:ext>
            </a:extLst>
          </p:cNvPr>
          <p:cNvSpPr>
            <a:spLocks xmlns:a="http://schemas.openxmlformats.org/drawingml/2006/main" noGrp="1"/>
          </p:cNvSpPr>
          <p:nvPr/>
        </p:nvSpPr>
        <p:spPr>
          <a:xfrm xmlns:a="http://schemas.openxmlformats.org/drawingml/2006/main">
            <a:off x="6591300" y="1981200"/>
            <a:ext cx="4914900" cy="666750"/>
          </a:xfrm>
          <a:prstGeom xmlns:a="http://schemas.openxmlformats.org/drawingml/2006/main" prst="roundRect">
            <a:avLst>
              <a:gd name="adj" fmla="val 20000"/>
            </a:avLst>
          </a:prstGeom>
          <a:solidFill xmlns:a="http://schemas.openxmlformats.org/drawingml/2006/main">
            <a:srgbClr val="EAF4FF"/>
          </a:solidFill>
          <a:ln xmlns:a="http://schemas.openxmlformats.org/drawingml/2006/main" w="9525">
            <a:solidFill>
              <a:srgbClr val="A7CAF1"/>
            </a:solidFill>
            <a:prstDash val="solid"/>
          </a:ln>
        </p:spPr>
      </p:sp>
      <p:sp>
        <p:nvSpPr>
          <p:cNvPr id="10" name="">
            <a:extLst xmlns:a="http://schemas.openxmlformats.org/drawingml/2006/main">
              <a:ext uri="{FF2B5EF4-FFF2-40B4-BE49-F238E27FC236}">
                <a16:creationId xmlns:a16="http://schemas.microsoft.com/office/drawing/2014/main" id="{33F82097-506B-4F38-B5B2-190076D36801}"/>
              </a:ext>
            </a:extLst>
          </p:cNvPr>
          <p:cNvSpPr>
            <a:spLocks xmlns:a="http://schemas.openxmlformats.org/drawingml/2006/main" noGrp="1"/>
          </p:cNvSpPr>
          <p:nvPr/>
        </p:nvSpPr>
        <p:spPr>
          <a:xfrm xmlns:a="http://schemas.openxmlformats.org/drawingml/2006/main">
            <a:off x="6781800" y="20764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1477F8"/>
                </a:solidFill>
                <a:latin typeface="Inter"/>
                <a:ea typeface="Inter"/>
                <a:cs typeface="Inter"/>
              </a:defRPr>
            </a:pPr>
            <a:r>
              <a:rPr sz="750" b="1">
                <a:solidFill>
                  <a:srgbClr val="1477F8"/>
                </a:solidFill>
                <a:latin typeface="Inter"/>
                <a:ea typeface="Inter"/>
                <a:cs typeface="Inter"/>
              </a:rPr>
              <a:t>PROPOSED</a:t>
            </a:r>
          </a:p>
        </p:txBody>
      </p:sp>
      <p:sp>
        <p:nvSpPr>
          <p:cNvPr id="11" name="">
            <a:extLst xmlns:a="http://schemas.openxmlformats.org/drawingml/2006/main">
              <a:ext uri="{FF2B5EF4-FFF2-40B4-BE49-F238E27FC236}">
                <a16:creationId xmlns:a16="http://schemas.microsoft.com/office/drawing/2014/main" id="{A562D8DE-A112-4C44-A427-C8881F1D5260}"/>
              </a:ext>
            </a:extLst>
          </p:cNvPr>
          <p:cNvSpPr>
            <a:spLocks xmlns:a="http://schemas.openxmlformats.org/drawingml/2006/main" noGrp="1"/>
          </p:cNvSpPr>
          <p:nvPr/>
        </p:nvSpPr>
        <p:spPr>
          <a:xfrm xmlns:a="http://schemas.openxmlformats.org/drawingml/2006/main">
            <a:off x="6781800" y="2286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10253B"/>
                </a:solidFill>
                <a:latin typeface="Inter"/>
                <a:ea typeface="Inter"/>
                <a:cs typeface="Inter"/>
              </a:defRPr>
            </a:pPr>
            <a:r>
              <a:rPr sz="1200" b="1">
                <a:solidFill>
                  <a:srgbClr val="10253B"/>
                </a:solidFill>
                <a:latin typeface="Inter"/>
                <a:ea typeface="Inter"/>
                <a:cs typeface="Inter"/>
              </a:rPr>
              <a:t>Work and knowledge views</a:t>
            </a:r>
          </a:p>
        </p:txBody>
      </p:sp>
      <p:sp>
        <p:nvSpPr>
          <p:cNvPr id="12" name="">
            <a:extLst xmlns:a="http://schemas.openxmlformats.org/drawingml/2006/main">
              <a:ext uri="{FF2B5EF4-FFF2-40B4-BE49-F238E27FC236}">
                <a16:creationId xmlns:a16="http://schemas.microsoft.com/office/drawing/2014/main" id="{E941EC7F-EF28-4009-8828-0D00828B5335}"/>
              </a:ext>
            </a:extLst>
          </p:cNvPr>
          <p:cNvSpPr>
            <a:spLocks xmlns:a="http://schemas.openxmlformats.org/drawingml/2006/main" noGrp="1"/>
          </p:cNvSpPr>
          <p:nvPr/>
        </p:nvSpPr>
        <p:spPr>
          <a:xfrm xmlns:a="http://schemas.openxmlformats.org/drawingml/2006/main">
            <a:off x="723900" y="3105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GOVERNANCE</a:t>
            </a:r>
          </a:p>
        </p:txBody>
      </p:sp>
      <p:sp>
        <p:nvSpPr>
          <p:cNvPr id="13" name="">
            <a:extLst xmlns:a="http://schemas.openxmlformats.org/drawingml/2006/main">
              <a:ext uri="{FF2B5EF4-FFF2-40B4-BE49-F238E27FC236}">
                <a16:creationId xmlns:a16="http://schemas.microsoft.com/office/drawing/2014/main" id="{B8F1F9D2-237F-4957-BA02-FE5C1ED2188D}"/>
              </a:ext>
            </a:extLst>
          </p:cNvPr>
          <p:cNvSpPr>
            <a:spLocks xmlns:a="http://schemas.openxmlformats.org/drawingml/2006/main" noGrp="1"/>
          </p:cNvSpPr>
          <p:nvPr/>
        </p:nvSpPr>
        <p:spPr>
          <a:xfrm xmlns:a="http://schemas.openxmlformats.org/drawingml/2006/main">
            <a:off x="2133600" y="2895600"/>
            <a:ext cx="4210050" cy="666750"/>
          </a:xfrm>
          <a:prstGeom xmlns:a="http://schemas.openxmlformats.org/drawingml/2006/main" prst="roundRect">
            <a:avLst>
              <a:gd name="adj" fmla="val 20000"/>
            </a:avLst>
          </a:prstGeom>
          <a:solidFill xmlns:a="http://schemas.openxmlformats.org/drawingml/2006/main">
            <a:srgbClr val="071A2D"/>
          </a:solidFill>
          <a:ln xmlns:a="http://schemas.openxmlformats.org/drawingml/2006/main" w="0">
            <a:solidFill>
              <a:srgbClr val="071A2D"/>
            </a:solidFill>
            <a:prstDash val="solid"/>
          </a:ln>
        </p:spPr>
      </p:sp>
      <p:sp>
        <p:nvSpPr>
          <p:cNvPr id="14" name="">
            <a:extLst xmlns:a="http://schemas.openxmlformats.org/drawingml/2006/main">
              <a:ext uri="{FF2B5EF4-FFF2-40B4-BE49-F238E27FC236}">
                <a16:creationId xmlns:a16="http://schemas.microsoft.com/office/drawing/2014/main" id="{7A7E0402-B4F0-4DE0-8322-F01374F028AE}"/>
              </a:ext>
            </a:extLst>
          </p:cNvPr>
          <p:cNvSpPr>
            <a:spLocks xmlns:a="http://schemas.openxmlformats.org/drawingml/2006/main" noGrp="1"/>
          </p:cNvSpPr>
          <p:nvPr/>
        </p:nvSpPr>
        <p:spPr>
          <a:xfrm xmlns:a="http://schemas.openxmlformats.org/drawingml/2006/main">
            <a:off x="2324100" y="29908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3B3FF"/>
                </a:solidFill>
                <a:latin typeface="Inter"/>
                <a:ea typeface="Inter"/>
                <a:cs typeface="Inter"/>
              </a:defRPr>
            </a:pPr>
            <a:r>
              <a:rPr sz="750" b="1">
                <a:solidFill>
                  <a:srgbClr val="63B3FF"/>
                </a:solidFill>
                <a:latin typeface="Inter"/>
                <a:ea typeface="Inter"/>
                <a:cs typeface="Inter"/>
              </a:rPr>
              <a:t>EXISTING</a:t>
            </a:r>
          </a:p>
        </p:txBody>
      </p:sp>
      <p:sp>
        <p:nvSpPr>
          <p:cNvPr id="15" name="">
            <a:extLst xmlns:a="http://schemas.openxmlformats.org/drawingml/2006/main">
              <a:ext uri="{FF2B5EF4-FFF2-40B4-BE49-F238E27FC236}">
                <a16:creationId xmlns:a16="http://schemas.microsoft.com/office/drawing/2014/main" id="{6BDA1FFE-26C3-4D4B-BB47-6B84FAE5655F}"/>
              </a:ext>
            </a:extLst>
          </p:cNvPr>
          <p:cNvSpPr>
            <a:spLocks xmlns:a="http://schemas.openxmlformats.org/drawingml/2006/main" noGrp="1"/>
          </p:cNvSpPr>
          <p:nvPr/>
        </p:nvSpPr>
        <p:spPr>
          <a:xfrm xmlns:a="http://schemas.openxmlformats.org/drawingml/2006/main">
            <a:off x="2324100" y="32004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Identity · role scope · revisions · audit</a:t>
            </a:r>
          </a:p>
        </p:txBody>
      </p:sp>
      <p:sp>
        <p:nvSpPr>
          <p:cNvPr id="16" name="">
            <a:extLst xmlns:a="http://schemas.openxmlformats.org/drawingml/2006/main">
              <a:ext uri="{FF2B5EF4-FFF2-40B4-BE49-F238E27FC236}">
                <a16:creationId xmlns:a16="http://schemas.microsoft.com/office/drawing/2014/main" id="{B528DD1B-7BDD-41E0-8F2A-6E6C90E9017E}"/>
              </a:ext>
            </a:extLst>
          </p:cNvPr>
          <p:cNvSpPr>
            <a:spLocks xmlns:a="http://schemas.openxmlformats.org/drawingml/2006/main" noGrp="1"/>
          </p:cNvSpPr>
          <p:nvPr/>
        </p:nvSpPr>
        <p:spPr>
          <a:xfrm xmlns:a="http://schemas.openxmlformats.org/drawingml/2006/main">
            <a:off x="6591300" y="2895600"/>
            <a:ext cx="4914900" cy="666750"/>
          </a:xfrm>
          <a:prstGeom xmlns:a="http://schemas.openxmlformats.org/drawingml/2006/main" prst="roundRect">
            <a:avLst>
              <a:gd name="adj" fmla="val 20000"/>
            </a:avLst>
          </a:prstGeom>
          <a:solidFill xmlns:a="http://schemas.openxmlformats.org/drawingml/2006/main">
            <a:srgbClr val="EAF4FF"/>
          </a:solidFill>
          <a:ln xmlns:a="http://schemas.openxmlformats.org/drawingml/2006/main" w="9525">
            <a:solidFill>
              <a:srgbClr val="A7CAF1"/>
            </a:solidFill>
            <a:prstDash val="solid"/>
          </a:ln>
        </p:spPr>
      </p:sp>
      <p:sp>
        <p:nvSpPr>
          <p:cNvPr id="17" name="">
            <a:extLst xmlns:a="http://schemas.openxmlformats.org/drawingml/2006/main">
              <a:ext uri="{FF2B5EF4-FFF2-40B4-BE49-F238E27FC236}">
                <a16:creationId xmlns:a16="http://schemas.microsoft.com/office/drawing/2014/main" id="{68095C86-8611-4FCE-874C-49509E25AB32}"/>
              </a:ext>
            </a:extLst>
          </p:cNvPr>
          <p:cNvSpPr>
            <a:spLocks xmlns:a="http://schemas.openxmlformats.org/drawingml/2006/main" noGrp="1"/>
          </p:cNvSpPr>
          <p:nvPr/>
        </p:nvSpPr>
        <p:spPr>
          <a:xfrm xmlns:a="http://schemas.openxmlformats.org/drawingml/2006/main">
            <a:off x="6781800" y="29908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1477F8"/>
                </a:solidFill>
                <a:latin typeface="Inter"/>
                <a:ea typeface="Inter"/>
                <a:cs typeface="Inter"/>
              </a:defRPr>
            </a:pPr>
            <a:r>
              <a:rPr sz="750" b="1">
                <a:solidFill>
                  <a:srgbClr val="1477F8"/>
                </a:solidFill>
                <a:latin typeface="Inter"/>
                <a:ea typeface="Inter"/>
                <a:cs typeface="Inter"/>
              </a:rPr>
              <a:t>PROPOSED</a:t>
            </a:r>
          </a:p>
        </p:txBody>
      </p:sp>
      <p:sp>
        <p:nvSpPr>
          <p:cNvPr id="18" name="">
            <a:extLst xmlns:a="http://schemas.openxmlformats.org/drawingml/2006/main">
              <a:ext uri="{FF2B5EF4-FFF2-40B4-BE49-F238E27FC236}">
                <a16:creationId xmlns:a16="http://schemas.microsoft.com/office/drawing/2014/main" id="{BDCB1F03-5D97-40A5-98DE-51C4315408D9}"/>
              </a:ext>
            </a:extLst>
          </p:cNvPr>
          <p:cNvSpPr>
            <a:spLocks xmlns:a="http://schemas.openxmlformats.org/drawingml/2006/main" noGrp="1"/>
          </p:cNvSpPr>
          <p:nvPr/>
        </p:nvSpPr>
        <p:spPr>
          <a:xfrm xmlns:a="http://schemas.openxmlformats.org/drawingml/2006/main">
            <a:off x="6781800" y="32004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10253B"/>
                </a:solidFill>
                <a:latin typeface="Inter"/>
                <a:ea typeface="Inter"/>
                <a:cs typeface="Inter"/>
              </a:defRPr>
            </a:pPr>
            <a:r>
              <a:rPr sz="1200" b="1">
                <a:solidFill>
                  <a:srgbClr val="10253B"/>
                </a:solidFill>
                <a:latin typeface="Inter"/>
                <a:ea typeface="Inter"/>
                <a:cs typeface="Inter"/>
              </a:rPr>
              <a:t>Page permissions · comments · approvals</a:t>
            </a:r>
          </a:p>
        </p:txBody>
      </p:sp>
      <p:sp>
        <p:nvSpPr>
          <p:cNvPr id="19" name="">
            <a:extLst xmlns:a="http://schemas.openxmlformats.org/drawingml/2006/main">
              <a:ext uri="{FF2B5EF4-FFF2-40B4-BE49-F238E27FC236}">
                <a16:creationId xmlns:a16="http://schemas.microsoft.com/office/drawing/2014/main" id="{BB22BC0A-6B02-4E30-82CE-DECE3C31753A}"/>
              </a:ext>
            </a:extLst>
          </p:cNvPr>
          <p:cNvSpPr>
            <a:spLocks xmlns:a="http://schemas.openxmlformats.org/drawingml/2006/main" noGrp="1"/>
          </p:cNvSpPr>
          <p:nvPr/>
        </p:nvSpPr>
        <p:spPr>
          <a:xfrm xmlns:a="http://schemas.openxmlformats.org/drawingml/2006/main">
            <a:off x="723900" y="40195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RECORD CORE</a:t>
            </a:r>
          </a:p>
        </p:txBody>
      </p:sp>
      <p:sp>
        <p:nvSpPr>
          <p:cNvPr id="20" name="">
            <a:extLst xmlns:a="http://schemas.openxmlformats.org/drawingml/2006/main">
              <a:ext uri="{FF2B5EF4-FFF2-40B4-BE49-F238E27FC236}">
                <a16:creationId xmlns:a16="http://schemas.microsoft.com/office/drawing/2014/main" id="{B5DB8D0D-7B4E-4799-AAFF-EC243425F513}"/>
              </a:ext>
            </a:extLst>
          </p:cNvPr>
          <p:cNvSpPr>
            <a:spLocks xmlns:a="http://schemas.openxmlformats.org/drawingml/2006/main" noGrp="1"/>
          </p:cNvSpPr>
          <p:nvPr/>
        </p:nvSpPr>
        <p:spPr>
          <a:xfrm xmlns:a="http://schemas.openxmlformats.org/drawingml/2006/main">
            <a:off x="2133600" y="3810000"/>
            <a:ext cx="4210050" cy="666750"/>
          </a:xfrm>
          <a:prstGeom xmlns:a="http://schemas.openxmlformats.org/drawingml/2006/main" prst="roundRect">
            <a:avLst>
              <a:gd name="adj" fmla="val 20000"/>
            </a:avLst>
          </a:prstGeom>
          <a:solidFill xmlns:a="http://schemas.openxmlformats.org/drawingml/2006/main">
            <a:srgbClr val="071A2D"/>
          </a:solidFill>
          <a:ln xmlns:a="http://schemas.openxmlformats.org/drawingml/2006/main" w="0">
            <a:solidFill>
              <a:srgbClr val="071A2D"/>
            </a:solidFill>
            <a:prstDash val="solid"/>
          </a:ln>
        </p:spPr>
      </p:sp>
      <p:sp>
        <p:nvSpPr>
          <p:cNvPr id="21" name="">
            <a:extLst xmlns:a="http://schemas.openxmlformats.org/drawingml/2006/main">
              <a:ext uri="{FF2B5EF4-FFF2-40B4-BE49-F238E27FC236}">
                <a16:creationId xmlns:a16="http://schemas.microsoft.com/office/drawing/2014/main" id="{2587AE93-8FD0-4E7D-B97B-E83F52DC204D}"/>
              </a:ext>
            </a:extLst>
          </p:cNvPr>
          <p:cNvSpPr>
            <a:spLocks xmlns:a="http://schemas.openxmlformats.org/drawingml/2006/main" noGrp="1"/>
          </p:cNvSpPr>
          <p:nvPr/>
        </p:nvSpPr>
        <p:spPr>
          <a:xfrm xmlns:a="http://schemas.openxmlformats.org/drawingml/2006/main">
            <a:off x="2324100" y="39052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3B3FF"/>
                </a:solidFill>
                <a:latin typeface="Inter"/>
                <a:ea typeface="Inter"/>
                <a:cs typeface="Inter"/>
              </a:defRPr>
            </a:pPr>
            <a:r>
              <a:rPr sz="750" b="1">
                <a:solidFill>
                  <a:srgbClr val="63B3FF"/>
                </a:solidFill>
                <a:latin typeface="Inter"/>
                <a:ea typeface="Inter"/>
                <a:cs typeface="Inter"/>
              </a:rPr>
              <a:t>EXISTING</a:t>
            </a:r>
          </a:p>
        </p:txBody>
      </p:sp>
      <p:sp>
        <p:nvSpPr>
          <p:cNvPr id="22" name="">
            <a:extLst xmlns:a="http://schemas.openxmlformats.org/drawingml/2006/main">
              <a:ext uri="{FF2B5EF4-FFF2-40B4-BE49-F238E27FC236}">
                <a16:creationId xmlns:a16="http://schemas.microsoft.com/office/drawing/2014/main" id="{879019CE-945A-4C96-AB29-E885F301232F}"/>
              </a:ext>
            </a:extLst>
          </p:cNvPr>
          <p:cNvSpPr>
            <a:spLocks xmlns:a="http://schemas.openxmlformats.org/drawingml/2006/main" noGrp="1"/>
          </p:cNvSpPr>
          <p:nvPr/>
        </p:nvSpPr>
        <p:spPr>
          <a:xfrm xmlns:a="http://schemas.openxmlformats.org/drawingml/2006/main">
            <a:off x="2324100" y="4114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Projects · risks · files · projections</a:t>
            </a:r>
          </a:p>
        </p:txBody>
      </p:sp>
      <p:sp>
        <p:nvSpPr>
          <p:cNvPr id="23" name="">
            <a:extLst xmlns:a="http://schemas.openxmlformats.org/drawingml/2006/main">
              <a:ext uri="{FF2B5EF4-FFF2-40B4-BE49-F238E27FC236}">
                <a16:creationId xmlns:a16="http://schemas.microsoft.com/office/drawing/2014/main" id="{2CE7F610-257D-4C80-B8D3-0C44953D50FF}"/>
              </a:ext>
            </a:extLst>
          </p:cNvPr>
          <p:cNvSpPr>
            <a:spLocks xmlns:a="http://schemas.openxmlformats.org/drawingml/2006/main" noGrp="1"/>
          </p:cNvSpPr>
          <p:nvPr/>
        </p:nvSpPr>
        <p:spPr>
          <a:xfrm xmlns:a="http://schemas.openxmlformats.org/drawingml/2006/main">
            <a:off x="6591300" y="3810000"/>
            <a:ext cx="4914900" cy="666750"/>
          </a:xfrm>
          <a:prstGeom xmlns:a="http://schemas.openxmlformats.org/drawingml/2006/main" prst="roundRect">
            <a:avLst>
              <a:gd name="adj" fmla="val 20000"/>
            </a:avLst>
          </a:prstGeom>
          <a:solidFill xmlns:a="http://schemas.openxmlformats.org/drawingml/2006/main">
            <a:srgbClr val="EAF4FF"/>
          </a:solidFill>
          <a:ln xmlns:a="http://schemas.openxmlformats.org/drawingml/2006/main" w="9525">
            <a:solidFill>
              <a:srgbClr val="A7CAF1"/>
            </a:solidFill>
            <a:prstDash val="solid"/>
          </a:ln>
        </p:spPr>
      </p:sp>
      <p:sp>
        <p:nvSpPr>
          <p:cNvPr id="24" name="">
            <a:extLst xmlns:a="http://schemas.openxmlformats.org/drawingml/2006/main">
              <a:ext uri="{FF2B5EF4-FFF2-40B4-BE49-F238E27FC236}">
                <a16:creationId xmlns:a16="http://schemas.microsoft.com/office/drawing/2014/main" id="{A1240864-8FD5-412E-AD64-72B96B7935DE}"/>
              </a:ext>
            </a:extLst>
          </p:cNvPr>
          <p:cNvSpPr>
            <a:spLocks xmlns:a="http://schemas.openxmlformats.org/drawingml/2006/main" noGrp="1"/>
          </p:cNvSpPr>
          <p:nvPr/>
        </p:nvSpPr>
        <p:spPr>
          <a:xfrm xmlns:a="http://schemas.openxmlformats.org/drawingml/2006/main">
            <a:off x="6781800" y="39052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1477F8"/>
                </a:solidFill>
                <a:latin typeface="Inter"/>
                <a:ea typeface="Inter"/>
                <a:cs typeface="Inter"/>
              </a:defRPr>
            </a:pPr>
            <a:r>
              <a:rPr sz="750" b="1">
                <a:solidFill>
                  <a:srgbClr val="1477F8"/>
                </a:solidFill>
                <a:latin typeface="Inter"/>
                <a:ea typeface="Inter"/>
                <a:cs typeface="Inter"/>
              </a:rPr>
              <a:t>PROPOSED</a:t>
            </a:r>
          </a:p>
        </p:txBody>
      </p:sp>
      <p:sp>
        <p:nvSpPr>
          <p:cNvPr id="25" name="">
            <a:extLst xmlns:a="http://schemas.openxmlformats.org/drawingml/2006/main">
              <a:ext uri="{FF2B5EF4-FFF2-40B4-BE49-F238E27FC236}">
                <a16:creationId xmlns:a16="http://schemas.microsoft.com/office/drawing/2014/main" id="{E629A08D-F404-475E-A163-CC6634AFF04D}"/>
              </a:ext>
            </a:extLst>
          </p:cNvPr>
          <p:cNvSpPr>
            <a:spLocks xmlns:a="http://schemas.openxmlformats.org/drawingml/2006/main" noGrp="1"/>
          </p:cNvSpPr>
          <p:nvPr/>
        </p:nvSpPr>
        <p:spPr>
          <a:xfrm xmlns:a="http://schemas.openxmlformats.org/drawingml/2006/main">
            <a:off x="6781800" y="41148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10253B"/>
                </a:solidFill>
                <a:latin typeface="Inter"/>
                <a:ea typeface="Inter"/>
                <a:cs typeface="Inter"/>
              </a:defRPr>
            </a:pPr>
            <a:r>
              <a:rPr sz="1200" b="1">
                <a:solidFill>
                  <a:srgbClr val="10253B"/>
                </a:solidFill>
                <a:latin typeface="Inter"/>
                <a:ea typeface="Inter"/>
                <a:cs typeface="Inter"/>
              </a:rPr>
              <a:t>Normalized work · pages · migration ledger</a:t>
            </a:r>
          </a:p>
        </p:txBody>
      </p:sp>
      <p:sp>
        <p:nvSpPr>
          <p:cNvPr id="26" name="">
            <a:extLst xmlns:a="http://schemas.openxmlformats.org/drawingml/2006/main">
              <a:ext uri="{FF2B5EF4-FFF2-40B4-BE49-F238E27FC236}">
                <a16:creationId xmlns:a16="http://schemas.microsoft.com/office/drawing/2014/main" id="{05A747BB-7B7E-4B2F-B0B3-BDAB08179229}"/>
              </a:ext>
            </a:extLst>
          </p:cNvPr>
          <p:cNvSpPr>
            <a:spLocks xmlns:a="http://schemas.openxmlformats.org/drawingml/2006/main" noGrp="1"/>
          </p:cNvSpPr>
          <p:nvPr/>
        </p:nvSpPr>
        <p:spPr>
          <a:xfrm xmlns:a="http://schemas.openxmlformats.org/drawingml/2006/main">
            <a:off x="723900" y="49339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5C7084"/>
                </a:solidFill>
                <a:latin typeface="Inter"/>
                <a:ea typeface="Inter"/>
                <a:cs typeface="Inter"/>
              </a:defRPr>
            </a:pPr>
            <a:r>
              <a:rPr sz="975" b="1">
                <a:solidFill>
                  <a:srgbClr val="5C7084"/>
                </a:solidFill>
                <a:latin typeface="Inter"/>
                <a:ea typeface="Inter"/>
                <a:cs typeface="Inter"/>
              </a:rPr>
              <a:t>PLATFORM</a:t>
            </a:r>
          </a:p>
        </p:txBody>
      </p:sp>
      <p:sp>
        <p:nvSpPr>
          <p:cNvPr id="27" name="">
            <a:extLst xmlns:a="http://schemas.openxmlformats.org/drawingml/2006/main">
              <a:ext uri="{FF2B5EF4-FFF2-40B4-BE49-F238E27FC236}">
                <a16:creationId xmlns:a16="http://schemas.microsoft.com/office/drawing/2014/main" id="{8A59185E-3518-4B37-AF96-FF92EA5456B8}"/>
              </a:ext>
            </a:extLst>
          </p:cNvPr>
          <p:cNvSpPr>
            <a:spLocks xmlns:a="http://schemas.openxmlformats.org/drawingml/2006/main" noGrp="1"/>
          </p:cNvSpPr>
          <p:nvPr/>
        </p:nvSpPr>
        <p:spPr>
          <a:xfrm xmlns:a="http://schemas.openxmlformats.org/drawingml/2006/main">
            <a:off x="2133600" y="4724400"/>
            <a:ext cx="4210050" cy="666750"/>
          </a:xfrm>
          <a:prstGeom xmlns:a="http://schemas.openxmlformats.org/drawingml/2006/main" prst="roundRect">
            <a:avLst>
              <a:gd name="adj" fmla="val 20000"/>
            </a:avLst>
          </a:prstGeom>
          <a:solidFill xmlns:a="http://schemas.openxmlformats.org/drawingml/2006/main">
            <a:srgbClr val="071A2D"/>
          </a:solidFill>
          <a:ln xmlns:a="http://schemas.openxmlformats.org/drawingml/2006/main" w="0">
            <a:solidFill>
              <a:srgbClr val="071A2D"/>
            </a:solidFill>
            <a:prstDash val="solid"/>
          </a:ln>
        </p:spPr>
      </p:sp>
      <p:sp>
        <p:nvSpPr>
          <p:cNvPr id="28" name="">
            <a:extLst xmlns:a="http://schemas.openxmlformats.org/drawingml/2006/main">
              <a:ext uri="{FF2B5EF4-FFF2-40B4-BE49-F238E27FC236}">
                <a16:creationId xmlns:a16="http://schemas.microsoft.com/office/drawing/2014/main" id="{1A0652F2-6D9E-4C88-B118-41F59F260142}"/>
              </a:ext>
            </a:extLst>
          </p:cNvPr>
          <p:cNvSpPr>
            <a:spLocks xmlns:a="http://schemas.openxmlformats.org/drawingml/2006/main" noGrp="1"/>
          </p:cNvSpPr>
          <p:nvPr/>
        </p:nvSpPr>
        <p:spPr>
          <a:xfrm xmlns:a="http://schemas.openxmlformats.org/drawingml/2006/main">
            <a:off x="2324100" y="48196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63B3FF"/>
                </a:solidFill>
                <a:latin typeface="Inter"/>
                <a:ea typeface="Inter"/>
                <a:cs typeface="Inter"/>
              </a:defRPr>
            </a:pPr>
            <a:r>
              <a:rPr sz="750" b="1">
                <a:solidFill>
                  <a:srgbClr val="63B3FF"/>
                </a:solidFill>
                <a:latin typeface="Inter"/>
                <a:ea typeface="Inter"/>
                <a:cs typeface="Inter"/>
              </a:rPr>
              <a:t>EXISTING</a:t>
            </a:r>
          </a:p>
        </p:txBody>
      </p:sp>
      <p:sp>
        <p:nvSpPr>
          <p:cNvPr id="29" name="">
            <a:extLst xmlns:a="http://schemas.openxmlformats.org/drawingml/2006/main">
              <a:ext uri="{FF2B5EF4-FFF2-40B4-BE49-F238E27FC236}">
                <a16:creationId xmlns:a16="http://schemas.microsoft.com/office/drawing/2014/main" id="{CD691BC1-167A-46E0-BC24-6AF897933D4B}"/>
              </a:ext>
            </a:extLst>
          </p:cNvPr>
          <p:cNvSpPr>
            <a:spLocks xmlns:a="http://schemas.openxmlformats.org/drawingml/2006/main" noGrp="1"/>
          </p:cNvSpPr>
          <p:nvPr/>
        </p:nvSpPr>
        <p:spPr>
          <a:xfrm xmlns:a="http://schemas.openxmlformats.org/drawingml/2006/main">
            <a:off x="2324100" y="50292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Worker · D1 · R2</a:t>
            </a:r>
          </a:p>
        </p:txBody>
      </p:sp>
      <p:sp>
        <p:nvSpPr>
          <p:cNvPr id="30" name="">
            <a:extLst xmlns:a="http://schemas.openxmlformats.org/drawingml/2006/main">
              <a:ext uri="{FF2B5EF4-FFF2-40B4-BE49-F238E27FC236}">
                <a16:creationId xmlns:a16="http://schemas.microsoft.com/office/drawing/2014/main" id="{B94268D2-DDAA-4987-A6EB-3A04CD0E740A}"/>
              </a:ext>
            </a:extLst>
          </p:cNvPr>
          <p:cNvSpPr>
            <a:spLocks xmlns:a="http://schemas.openxmlformats.org/drawingml/2006/main" noGrp="1"/>
          </p:cNvSpPr>
          <p:nvPr/>
        </p:nvSpPr>
        <p:spPr>
          <a:xfrm xmlns:a="http://schemas.openxmlformats.org/drawingml/2006/main">
            <a:off x="6591300" y="4724400"/>
            <a:ext cx="4914900" cy="666750"/>
          </a:xfrm>
          <a:prstGeom xmlns:a="http://schemas.openxmlformats.org/drawingml/2006/main" prst="roundRect">
            <a:avLst>
              <a:gd name="adj" fmla="val 20000"/>
            </a:avLst>
          </a:prstGeom>
          <a:solidFill xmlns:a="http://schemas.openxmlformats.org/drawingml/2006/main">
            <a:srgbClr val="EAF4FF"/>
          </a:solidFill>
          <a:ln xmlns:a="http://schemas.openxmlformats.org/drawingml/2006/main" w="9525">
            <a:solidFill>
              <a:srgbClr val="A7CAF1"/>
            </a:solidFill>
            <a:prstDash val="solid"/>
          </a:ln>
        </p:spPr>
      </p:sp>
      <p:sp>
        <p:nvSpPr>
          <p:cNvPr id="31" name="">
            <a:extLst xmlns:a="http://schemas.openxmlformats.org/drawingml/2006/main">
              <a:ext uri="{FF2B5EF4-FFF2-40B4-BE49-F238E27FC236}">
                <a16:creationId xmlns:a16="http://schemas.microsoft.com/office/drawing/2014/main" id="{3D54D5BC-A060-4AFD-9F47-3F328A11625C}"/>
              </a:ext>
            </a:extLst>
          </p:cNvPr>
          <p:cNvSpPr>
            <a:spLocks xmlns:a="http://schemas.openxmlformats.org/drawingml/2006/main" noGrp="1"/>
          </p:cNvSpPr>
          <p:nvPr/>
        </p:nvSpPr>
        <p:spPr>
          <a:xfrm xmlns:a="http://schemas.openxmlformats.org/drawingml/2006/main">
            <a:off x="6781800" y="4819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a:solidFill>
                  <a:srgbClr val="1477F8"/>
                </a:solidFill>
                <a:latin typeface="Inter"/>
                <a:ea typeface="Inter"/>
                <a:cs typeface="Inter"/>
              </a:defRPr>
            </a:pPr>
            <a:r>
              <a:rPr sz="750" b="1">
                <a:solidFill>
                  <a:srgbClr val="1477F8"/>
                </a:solidFill>
                <a:latin typeface="Inter"/>
                <a:ea typeface="Inter"/>
                <a:cs typeface="Inter"/>
              </a:rPr>
              <a:t>PROPOSED</a:t>
            </a:r>
          </a:p>
        </p:txBody>
      </p:sp>
      <p:sp>
        <p:nvSpPr>
          <p:cNvPr id="32" name="">
            <a:extLst xmlns:a="http://schemas.openxmlformats.org/drawingml/2006/main">
              <a:ext uri="{FF2B5EF4-FFF2-40B4-BE49-F238E27FC236}">
                <a16:creationId xmlns:a16="http://schemas.microsoft.com/office/drawing/2014/main" id="{44277FC4-9A73-4C8E-B535-1747DCD381F8}"/>
              </a:ext>
            </a:extLst>
          </p:cNvPr>
          <p:cNvSpPr>
            <a:spLocks xmlns:a="http://schemas.openxmlformats.org/drawingml/2006/main" noGrp="1"/>
          </p:cNvSpPr>
          <p:nvPr/>
        </p:nvSpPr>
        <p:spPr>
          <a:xfrm xmlns:a="http://schemas.openxmlformats.org/drawingml/2006/main">
            <a:off x="6781800" y="50292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10253B"/>
                </a:solidFill>
                <a:latin typeface="Inter"/>
                <a:ea typeface="Inter"/>
                <a:cs typeface="Inter"/>
              </a:defRPr>
            </a:pPr>
            <a:r>
              <a:rPr sz="1200" b="1">
                <a:solidFill>
                  <a:srgbClr val="10253B"/>
                </a:solidFill>
                <a:latin typeface="Inter"/>
                <a:ea typeface="Inter"/>
                <a:cs typeface="Inter"/>
              </a:rPr>
              <a:t>Queues · notifications · webhooks</a:t>
            </a:r>
          </a:p>
        </p:txBody>
      </p:sp>
      <p:sp>
        <p:nvSpPr>
          <p:cNvPr id="33" name="">
            <a:extLst xmlns:a="http://schemas.openxmlformats.org/drawingml/2006/main">
              <a:ext uri="{FF2B5EF4-FFF2-40B4-BE49-F238E27FC236}">
                <a16:creationId xmlns:a16="http://schemas.microsoft.com/office/drawing/2014/main" id="{D73DFF87-366F-4241-80A4-BA180C718CD0}"/>
              </a:ext>
            </a:extLst>
          </p:cNvPr>
          <p:cNvSpPr>
            <a:spLocks xmlns:a="http://schemas.openxmlformats.org/drawingml/2006/main" noGrp="1"/>
          </p:cNvSpPr>
          <p:nvPr/>
        </p:nvSpPr>
        <p:spPr>
          <a:xfrm xmlns:a="http://schemas.openxmlformats.org/drawingml/2006/main">
            <a:off x="2133600" y="5848350"/>
            <a:ext cx="9372600" cy="400050"/>
          </a:xfrm>
          <a:prstGeom xmlns:a="http://schemas.openxmlformats.org/drawingml/2006/main" prst="roundRect">
            <a:avLst>
              <a:gd name="adj" fmla="val 28571"/>
            </a:avLst>
          </a:prstGeom>
          <a:solidFill xmlns:a="http://schemas.openxmlformats.org/drawingml/2006/main">
            <a:srgbClr val="FFF1CA"/>
          </a:solidFill>
          <a:ln xmlns:a="http://schemas.openxmlformats.org/drawingml/2006/main" w="9525">
            <a:solidFill>
              <a:srgbClr val="E6C15B"/>
            </a:solidFill>
            <a:prstDash val="solid"/>
          </a:ln>
        </p:spPr>
      </p:sp>
      <p:sp>
        <p:nvSpPr>
          <p:cNvPr id="34" name="">
            <a:extLst xmlns:a="http://schemas.openxmlformats.org/drawingml/2006/main">
              <a:ext uri="{FF2B5EF4-FFF2-40B4-BE49-F238E27FC236}">
                <a16:creationId xmlns:a16="http://schemas.microsoft.com/office/drawing/2014/main" id="{E9AFA0E8-D6E9-413B-AA5A-E74AA2AB4DF4}"/>
              </a:ext>
            </a:extLst>
          </p:cNvPr>
          <p:cNvSpPr>
            <a:spLocks xmlns:a="http://schemas.openxmlformats.org/drawingml/2006/main" noGrp="1"/>
          </p:cNvSpPr>
          <p:nvPr/>
        </p:nvSpPr>
        <p:spPr>
          <a:xfrm xmlns:a="http://schemas.openxmlformats.org/drawingml/2006/main">
            <a:off x="2324100" y="5953125"/>
            <a:ext cx="899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735000"/>
                </a:solidFill>
                <a:latin typeface="Inter"/>
                <a:ea typeface="Inter"/>
                <a:cs typeface="Inter"/>
              </a:defRPr>
            </a:pPr>
            <a:r>
              <a:rPr sz="1050" b="1">
                <a:solidFill>
                  <a:srgbClr val="735000"/>
                </a:solidFill>
                <a:latin typeface="Inter"/>
                <a:ea typeface="Inter"/>
                <a:cs typeface="Inter"/>
              </a:rPr>
              <a:t>Concept demo · standalone HTML · no APIs or persistence</a:t>
            </a:r>
          </a:p>
        </p:txBody>
      </p:sp>
      <p:sp>
        <p:nvSpPr>
          <p:cNvPr id="35" name="">
            <a:extLst xmlns:a="http://schemas.openxmlformats.org/drawingml/2006/main">
              <a:ext uri="{FF2B5EF4-FFF2-40B4-BE49-F238E27FC236}">
                <a16:creationId xmlns:a16="http://schemas.microsoft.com/office/drawing/2014/main" id="{5BF31516-67C3-41AE-BE13-1689E5FDF4FB}"/>
              </a:ext>
            </a:extLst>
          </p:cNvPr>
          <p:cNvSpPr>
            <a:spLocks xmlns:a="http://schemas.openxmlformats.org/drawingml/2006/main" noGrp="1"/>
          </p:cNvSpPr>
          <p:nvPr/>
        </p:nvSpPr>
        <p:spPr>
          <a:xfrm xmlns:a="http://schemas.openxmlformats.org/drawingml/2006/main">
            <a:off x="7239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C7084"/>
                </a:solidFill>
                <a:latin typeface="Inter"/>
                <a:ea typeface="Inter"/>
                <a:cs typeface="Inter"/>
              </a:defRPr>
            </a:pPr>
            <a:r>
              <a:rPr sz="825" b="1">
                <a:solidFill>
                  <a:srgbClr val="5C7084"/>
                </a:solidFill>
                <a:latin typeface="Inter"/>
                <a:ea typeface="Inter"/>
                <a:cs typeface="Inter"/>
              </a:rPr>
              <a:t>CONCEPT DEMO — SYNTHETIC DATA</a:t>
            </a:r>
          </a:p>
        </p:txBody>
      </p:sp>
    </p:spTree>
    <p:extLst>
      <p:ext uri="{BB962C8B-B14F-4D97-AF65-F5344CB8AC3E}">
        <p14:creationId xmlns:p14="http://schemas.microsoft.com/office/powerpoint/2010/main" val="2103229544"/>
      </p:ext>
    </p:extLst>
  </p:cSld>
</p:sld>
</file>

<file path=ppt/slides/slide9.xml><?xml version="1.0" encoding="utf-8"?>
<p:sld xmlns:p="http://schemas.openxmlformats.org/presentationml/2006/main">
  <p:cSld>
    <p:bg>
      <p:bgPr>
        <a:solidFill xmlns:a="http://schemas.openxmlformats.org/drawingml/2006/main">
          <a:srgbClr val="071A2D"/>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91CD44D-36F0-4271-8E44-A2B89B5E7FCD}"/>
              </a:ext>
            </a:extLst>
          </p:cNvPr>
          <p:cNvSpPr>
            <a:spLocks xmlns:a="http://schemas.openxmlformats.org/drawingml/2006/main" noGrp="1"/>
          </p:cNvSpPr>
          <p:nvPr/>
        </p:nvSpPr>
        <p:spPr>
          <a:xfrm xmlns:a="http://schemas.openxmlformats.org/drawingml/2006/main">
            <a:off x="7239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90D2FF"/>
                </a:solidFill>
                <a:latin typeface="Inter"/>
                <a:ea typeface="Inter"/>
                <a:cs typeface="Inter"/>
              </a:defRPr>
            </a:pPr>
            <a:r>
              <a:rPr sz="975" b="1">
                <a:solidFill>
                  <a:srgbClr val="90D2FF"/>
                </a:solidFill>
                <a:latin typeface="Inter"/>
                <a:ea typeface="Inter"/>
                <a:cs typeface="Inter"/>
              </a:rPr>
              <a:t>PROGRAM CONTROL · APPENDIX</a:t>
            </a:r>
          </a:p>
        </p:txBody>
      </p:sp>
      <p:sp>
        <p:nvSpPr>
          <p:cNvPr id="2" name="">
            <a:extLst xmlns:a="http://schemas.openxmlformats.org/drawingml/2006/main">
              <a:ext uri="{FF2B5EF4-FFF2-40B4-BE49-F238E27FC236}">
                <a16:creationId xmlns:a16="http://schemas.microsoft.com/office/drawing/2014/main" id="{A455FA83-B55F-449F-B285-53F9EA3E2E2C}"/>
              </a:ext>
            </a:extLst>
          </p:cNvPr>
          <p:cNvSpPr>
            <a:spLocks xmlns:a="http://schemas.openxmlformats.org/drawingml/2006/main" noGrp="1"/>
          </p:cNvSpPr>
          <p:nvPr/>
        </p:nvSpPr>
        <p:spPr>
          <a:xfrm xmlns:a="http://schemas.openxmlformats.org/drawingml/2006/main">
            <a:off x="11144250" y="3619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9CCE0"/>
                </a:solidFill>
                <a:latin typeface="Inter"/>
                <a:ea typeface="Inter"/>
                <a:cs typeface="Inter"/>
              </a:defRPr>
            </a:pPr>
            <a:r>
              <a:rPr sz="975" b="1">
                <a:solidFill>
                  <a:srgbClr val="B9CCE0"/>
                </a:solidFill>
                <a:latin typeface="Inter"/>
                <a:ea typeface="Inter"/>
                <a:cs typeface="Inter"/>
              </a:rPr>
              <a:t>09</a:t>
            </a:r>
          </a:p>
        </p:txBody>
      </p:sp>
      <p:sp>
        <p:nvSpPr>
          <p:cNvPr id="3" name="">
            <a:extLst xmlns:a="http://schemas.openxmlformats.org/drawingml/2006/main">
              <a:ext uri="{FF2B5EF4-FFF2-40B4-BE49-F238E27FC236}">
                <a16:creationId xmlns:a16="http://schemas.microsoft.com/office/drawing/2014/main" id="{A98C299B-FCBA-40BA-875A-9199EF6C8508}"/>
              </a:ext>
            </a:extLst>
          </p:cNvPr>
          <p:cNvSpPr>
            <a:spLocks xmlns:a="http://schemas.openxmlformats.org/drawingml/2006/main" noGrp="1"/>
          </p:cNvSpPr>
          <p:nvPr/>
        </p:nvSpPr>
        <p:spPr>
          <a:xfrm xmlns:a="http://schemas.openxmlformats.org/drawingml/2006/main">
            <a:off x="723900" y="742950"/>
            <a:ext cx="1074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000" b="1">
                <a:solidFill>
                  <a:srgbClr val="FFFFFF"/>
                </a:solidFill>
                <a:latin typeface="Inter"/>
                <a:ea typeface="Inter"/>
                <a:cs typeface="Inter"/>
              </a:defRPr>
            </a:pPr>
            <a:r>
              <a:rPr sz="3000" b="1">
                <a:solidFill>
                  <a:srgbClr val="FFFFFF"/>
                </a:solidFill>
                <a:latin typeface="Inter"/>
                <a:ea typeface="Inter"/>
                <a:cs typeface="Inter"/>
              </a:rPr>
              <a:t>Migration should be staged, verified, and reversible.</a:t>
            </a:r>
          </a:p>
        </p:txBody>
      </p:sp>
      <p:sp>
        <p:nvSpPr>
          <p:cNvPr id="4" name="">
            <a:extLst xmlns:a="http://schemas.openxmlformats.org/drawingml/2006/main">
              <a:ext uri="{FF2B5EF4-FFF2-40B4-BE49-F238E27FC236}">
                <a16:creationId xmlns:a16="http://schemas.microsoft.com/office/drawing/2014/main" id="{09DC136B-6ADD-4CAD-BF4B-2DE0310E8CD7}"/>
              </a:ext>
            </a:extLst>
          </p:cNvPr>
          <p:cNvSpPr>
            <a:spLocks xmlns:a="http://schemas.openxmlformats.org/drawingml/2006/main" noGrp="1"/>
          </p:cNvSpPr>
          <p:nvPr/>
        </p:nvSpPr>
        <p:spPr>
          <a:xfrm xmlns:a="http://schemas.openxmlformats.org/drawingml/2006/main">
            <a:off x="723900" y="1695450"/>
            <a:ext cx="533400" cy="47625"/>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5" name="">
            <a:extLst xmlns:a="http://schemas.openxmlformats.org/drawingml/2006/main">
              <a:ext uri="{FF2B5EF4-FFF2-40B4-BE49-F238E27FC236}">
                <a16:creationId xmlns:a16="http://schemas.microsoft.com/office/drawing/2014/main" id="{4742C566-EE01-4473-A0E1-02CBE393B9F8}"/>
              </a:ext>
            </a:extLst>
          </p:cNvPr>
          <p:cNvSpPr>
            <a:spLocks xmlns:a="http://schemas.openxmlformats.org/drawingml/2006/main" noGrp="1"/>
          </p:cNvSpPr>
          <p:nvPr/>
        </p:nvSpPr>
        <p:spPr>
          <a:xfrm xmlns:a="http://schemas.openxmlformats.org/drawingml/2006/main">
            <a:off x="723900" y="2247900"/>
            <a:ext cx="1428750" cy="628650"/>
          </a:xfrm>
          <a:prstGeom xmlns:a="http://schemas.openxmlformats.org/drawingml/2006/main" prst="roundRect">
            <a:avLst>
              <a:gd name="adj" fmla="val 21212"/>
            </a:avLst>
          </a:prstGeom>
          <a:solidFill xmlns:a="http://schemas.openxmlformats.org/drawingml/2006/main">
            <a:srgbClr val="0B2947"/>
          </a:solidFill>
          <a:ln xmlns:a="http://schemas.openxmlformats.org/drawingml/2006/main" w="19050">
            <a:solidFill>
              <a:srgbClr val="31506C"/>
            </a:solidFill>
            <a:prstDash val="solid"/>
          </a:ln>
        </p:spPr>
      </p:sp>
      <p:sp>
        <p:nvSpPr>
          <p:cNvPr id="6" name="">
            <a:extLst xmlns:a="http://schemas.openxmlformats.org/drawingml/2006/main">
              <a:ext uri="{FF2B5EF4-FFF2-40B4-BE49-F238E27FC236}">
                <a16:creationId xmlns:a16="http://schemas.microsoft.com/office/drawing/2014/main" id="{4DED3CB4-D6DD-421E-83E4-48704F159705}"/>
              </a:ext>
            </a:extLst>
          </p:cNvPr>
          <p:cNvSpPr>
            <a:spLocks xmlns:a="http://schemas.openxmlformats.org/drawingml/2006/main" noGrp="1"/>
          </p:cNvSpPr>
          <p:nvPr/>
        </p:nvSpPr>
        <p:spPr>
          <a:xfrm xmlns:a="http://schemas.openxmlformats.org/drawingml/2006/main">
            <a:off x="819150" y="24384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Inventory</a:t>
            </a:r>
          </a:p>
        </p:txBody>
      </p:sp>
      <p:sp>
        <p:nvSpPr>
          <p:cNvPr id="7" name="">
            <a:extLst xmlns:a="http://schemas.openxmlformats.org/drawingml/2006/main">
              <a:ext uri="{FF2B5EF4-FFF2-40B4-BE49-F238E27FC236}">
                <a16:creationId xmlns:a16="http://schemas.microsoft.com/office/drawing/2014/main" id="{348CDFE0-070E-46F8-8488-DA3047971BB0}"/>
              </a:ext>
            </a:extLst>
          </p:cNvPr>
          <p:cNvSpPr>
            <a:spLocks xmlns:a="http://schemas.openxmlformats.org/drawingml/2006/main" noGrp="1"/>
          </p:cNvSpPr>
          <p:nvPr/>
        </p:nvSpPr>
        <p:spPr>
          <a:xfrm xmlns:a="http://schemas.openxmlformats.org/drawingml/2006/main">
            <a:off x="2219325" y="2438400"/>
            <a:ext cx="285750" cy="228600"/>
          </a:xfrm>
          <a:prstGeom xmlns:a="http://schemas.openxmlformats.org/drawingml/2006/main" prst="rightArrow">
            <a:avLst/>
          </a:prstGeom>
          <a:solidFill xmlns:a="http://schemas.openxmlformats.org/drawingml/2006/main">
            <a:srgbClr val="6F879C"/>
          </a:solidFill>
          <a:ln xmlns:a="http://schemas.openxmlformats.org/drawingml/2006/main" w="0">
            <a:solidFill>
              <a:srgbClr val="6F879C"/>
            </a:solidFill>
            <a:prstDash val="solid"/>
          </a:ln>
        </p:spPr>
      </p:sp>
      <p:sp>
        <p:nvSpPr>
          <p:cNvPr id="8" name="">
            <a:extLst xmlns:a="http://schemas.openxmlformats.org/drawingml/2006/main">
              <a:ext uri="{FF2B5EF4-FFF2-40B4-BE49-F238E27FC236}">
                <a16:creationId xmlns:a16="http://schemas.microsoft.com/office/drawing/2014/main" id="{E20A68B2-4F1F-467D-971A-BED63B056EEF}"/>
              </a:ext>
            </a:extLst>
          </p:cNvPr>
          <p:cNvSpPr>
            <a:spLocks xmlns:a="http://schemas.openxmlformats.org/drawingml/2006/main" noGrp="1"/>
          </p:cNvSpPr>
          <p:nvPr/>
        </p:nvSpPr>
        <p:spPr>
          <a:xfrm xmlns:a="http://schemas.openxmlformats.org/drawingml/2006/main">
            <a:off x="2552700" y="2247900"/>
            <a:ext cx="1238250" cy="628650"/>
          </a:xfrm>
          <a:prstGeom xmlns:a="http://schemas.openxmlformats.org/drawingml/2006/main" prst="roundRect">
            <a:avLst>
              <a:gd name="adj" fmla="val 21212"/>
            </a:avLst>
          </a:prstGeom>
          <a:solidFill xmlns:a="http://schemas.openxmlformats.org/drawingml/2006/main">
            <a:srgbClr val="0B2947"/>
          </a:solidFill>
          <a:ln xmlns:a="http://schemas.openxmlformats.org/drawingml/2006/main" w="19050">
            <a:solidFill>
              <a:srgbClr val="31506C"/>
            </a:solidFill>
            <a:prstDash val="solid"/>
          </a:ln>
        </p:spPr>
      </p:sp>
      <p:sp>
        <p:nvSpPr>
          <p:cNvPr id="9" name="">
            <a:extLst xmlns:a="http://schemas.openxmlformats.org/drawingml/2006/main">
              <a:ext uri="{FF2B5EF4-FFF2-40B4-BE49-F238E27FC236}">
                <a16:creationId xmlns:a16="http://schemas.microsoft.com/office/drawing/2014/main" id="{ACF676CF-78A6-4022-BC56-1C649E90B4B6}"/>
              </a:ext>
            </a:extLst>
          </p:cNvPr>
          <p:cNvSpPr>
            <a:spLocks xmlns:a="http://schemas.openxmlformats.org/drawingml/2006/main" noGrp="1"/>
          </p:cNvSpPr>
          <p:nvPr/>
        </p:nvSpPr>
        <p:spPr>
          <a:xfrm xmlns:a="http://schemas.openxmlformats.org/drawingml/2006/main">
            <a:off x="2647950" y="24384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Map</a:t>
            </a:r>
          </a:p>
        </p:txBody>
      </p:sp>
      <p:sp>
        <p:nvSpPr>
          <p:cNvPr id="10" name="">
            <a:extLst xmlns:a="http://schemas.openxmlformats.org/drawingml/2006/main">
              <a:ext uri="{FF2B5EF4-FFF2-40B4-BE49-F238E27FC236}">
                <a16:creationId xmlns:a16="http://schemas.microsoft.com/office/drawing/2014/main" id="{201E100F-2AC1-4728-A6E6-88CC526E73E5}"/>
              </a:ext>
            </a:extLst>
          </p:cNvPr>
          <p:cNvSpPr>
            <a:spLocks xmlns:a="http://schemas.openxmlformats.org/drawingml/2006/main" noGrp="1"/>
          </p:cNvSpPr>
          <p:nvPr/>
        </p:nvSpPr>
        <p:spPr>
          <a:xfrm xmlns:a="http://schemas.openxmlformats.org/drawingml/2006/main">
            <a:off x="3857625" y="2438400"/>
            <a:ext cx="285750" cy="228600"/>
          </a:xfrm>
          <a:prstGeom xmlns:a="http://schemas.openxmlformats.org/drawingml/2006/main" prst="rightArrow">
            <a:avLst/>
          </a:prstGeom>
          <a:solidFill xmlns:a="http://schemas.openxmlformats.org/drawingml/2006/main">
            <a:srgbClr val="6F879C"/>
          </a:solidFill>
          <a:ln xmlns:a="http://schemas.openxmlformats.org/drawingml/2006/main" w="0">
            <a:solidFill>
              <a:srgbClr val="6F879C"/>
            </a:solidFill>
            <a:prstDash val="solid"/>
          </a:ln>
        </p:spPr>
      </p:sp>
      <p:sp>
        <p:nvSpPr>
          <p:cNvPr id="11" name="">
            <a:extLst xmlns:a="http://schemas.openxmlformats.org/drawingml/2006/main">
              <a:ext uri="{FF2B5EF4-FFF2-40B4-BE49-F238E27FC236}">
                <a16:creationId xmlns:a16="http://schemas.microsoft.com/office/drawing/2014/main" id="{3108CCC1-1129-475A-A0DA-563C628551B1}"/>
              </a:ext>
            </a:extLst>
          </p:cNvPr>
          <p:cNvSpPr>
            <a:spLocks xmlns:a="http://schemas.openxmlformats.org/drawingml/2006/main" noGrp="1"/>
          </p:cNvSpPr>
          <p:nvPr/>
        </p:nvSpPr>
        <p:spPr>
          <a:xfrm xmlns:a="http://schemas.openxmlformats.org/drawingml/2006/main">
            <a:off x="4191000" y="2247900"/>
            <a:ext cx="1428750" cy="628650"/>
          </a:xfrm>
          <a:prstGeom xmlns:a="http://schemas.openxmlformats.org/drawingml/2006/main" prst="roundRect">
            <a:avLst>
              <a:gd name="adj" fmla="val 21212"/>
            </a:avLst>
          </a:prstGeom>
          <a:solidFill xmlns:a="http://schemas.openxmlformats.org/drawingml/2006/main">
            <a:srgbClr val="5E4711"/>
          </a:solidFill>
          <a:ln xmlns:a="http://schemas.openxmlformats.org/drawingml/2006/main" w="19050">
            <a:solidFill>
              <a:srgbClr val="F3A712"/>
            </a:solidFill>
            <a:prstDash val="solid"/>
          </a:ln>
        </p:spPr>
      </p:sp>
      <p:sp>
        <p:nvSpPr>
          <p:cNvPr id="12" name="">
            <a:extLst xmlns:a="http://schemas.openxmlformats.org/drawingml/2006/main">
              <a:ext uri="{FF2B5EF4-FFF2-40B4-BE49-F238E27FC236}">
                <a16:creationId xmlns:a16="http://schemas.microsoft.com/office/drawing/2014/main" id="{850C8746-E77C-407B-B8DE-F0D91803A8B3}"/>
              </a:ext>
            </a:extLst>
          </p:cNvPr>
          <p:cNvSpPr>
            <a:spLocks xmlns:a="http://schemas.openxmlformats.org/drawingml/2006/main" noGrp="1"/>
          </p:cNvSpPr>
          <p:nvPr/>
        </p:nvSpPr>
        <p:spPr>
          <a:xfrm xmlns:a="http://schemas.openxmlformats.org/drawingml/2006/main">
            <a:off x="4286250" y="24384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Rehearse</a:t>
            </a:r>
          </a:p>
        </p:txBody>
      </p:sp>
      <p:sp>
        <p:nvSpPr>
          <p:cNvPr id="13" name="">
            <a:extLst xmlns:a="http://schemas.openxmlformats.org/drawingml/2006/main">
              <a:ext uri="{FF2B5EF4-FFF2-40B4-BE49-F238E27FC236}">
                <a16:creationId xmlns:a16="http://schemas.microsoft.com/office/drawing/2014/main" id="{78F50288-E072-42A1-A2C3-79D9D1FC3CD7}"/>
              </a:ext>
            </a:extLst>
          </p:cNvPr>
          <p:cNvSpPr>
            <a:spLocks xmlns:a="http://schemas.openxmlformats.org/drawingml/2006/main" noGrp="1"/>
          </p:cNvSpPr>
          <p:nvPr/>
        </p:nvSpPr>
        <p:spPr>
          <a:xfrm xmlns:a="http://schemas.openxmlformats.org/drawingml/2006/main">
            <a:off x="5686425" y="2438400"/>
            <a:ext cx="285750" cy="228600"/>
          </a:xfrm>
          <a:prstGeom xmlns:a="http://schemas.openxmlformats.org/drawingml/2006/main" prst="rightArrow">
            <a:avLst/>
          </a:prstGeom>
          <a:solidFill xmlns:a="http://schemas.openxmlformats.org/drawingml/2006/main">
            <a:srgbClr val="6F879C"/>
          </a:solidFill>
          <a:ln xmlns:a="http://schemas.openxmlformats.org/drawingml/2006/main" w="0">
            <a:solidFill>
              <a:srgbClr val="6F879C"/>
            </a:solidFill>
            <a:prstDash val="solid"/>
          </a:ln>
        </p:spPr>
      </p:sp>
      <p:sp>
        <p:nvSpPr>
          <p:cNvPr id="14" name="">
            <a:extLst xmlns:a="http://schemas.openxmlformats.org/drawingml/2006/main">
              <a:ext uri="{FF2B5EF4-FFF2-40B4-BE49-F238E27FC236}">
                <a16:creationId xmlns:a16="http://schemas.microsoft.com/office/drawing/2014/main" id="{3660292C-B166-4A0B-8087-D06AC3692F17}"/>
              </a:ext>
            </a:extLst>
          </p:cNvPr>
          <p:cNvSpPr>
            <a:spLocks xmlns:a="http://schemas.openxmlformats.org/drawingml/2006/main" noGrp="1"/>
          </p:cNvSpPr>
          <p:nvPr/>
        </p:nvSpPr>
        <p:spPr>
          <a:xfrm xmlns:a="http://schemas.openxmlformats.org/drawingml/2006/main">
            <a:off x="6019800" y="2247900"/>
            <a:ext cx="1676400" cy="628650"/>
          </a:xfrm>
          <a:prstGeom xmlns:a="http://schemas.openxmlformats.org/drawingml/2006/main" prst="roundRect">
            <a:avLst>
              <a:gd name="adj" fmla="val 21212"/>
            </a:avLst>
          </a:prstGeom>
          <a:solidFill xmlns:a="http://schemas.openxmlformats.org/drawingml/2006/main">
            <a:srgbClr val="5E4711"/>
          </a:solidFill>
          <a:ln xmlns:a="http://schemas.openxmlformats.org/drawingml/2006/main" w="19050">
            <a:solidFill>
              <a:srgbClr val="F3A712"/>
            </a:solidFill>
            <a:prstDash val="solid"/>
          </a:ln>
        </p:spPr>
      </p:sp>
      <p:sp>
        <p:nvSpPr>
          <p:cNvPr id="15" name="">
            <a:extLst xmlns:a="http://schemas.openxmlformats.org/drawingml/2006/main">
              <a:ext uri="{FF2B5EF4-FFF2-40B4-BE49-F238E27FC236}">
                <a16:creationId xmlns:a16="http://schemas.microsoft.com/office/drawing/2014/main" id="{CEE845E8-0B9C-4E0E-B79C-C2851E6A049A}"/>
              </a:ext>
            </a:extLst>
          </p:cNvPr>
          <p:cNvSpPr>
            <a:spLocks xmlns:a="http://schemas.openxmlformats.org/drawingml/2006/main" noGrp="1"/>
          </p:cNvSpPr>
          <p:nvPr/>
        </p:nvSpPr>
        <p:spPr>
          <a:xfrm xmlns:a="http://schemas.openxmlformats.org/drawingml/2006/main">
            <a:off x="6115050" y="24384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Freeze + delta</a:t>
            </a:r>
          </a:p>
        </p:txBody>
      </p:sp>
      <p:sp>
        <p:nvSpPr>
          <p:cNvPr id="16" name="">
            <a:extLst xmlns:a="http://schemas.openxmlformats.org/drawingml/2006/main">
              <a:ext uri="{FF2B5EF4-FFF2-40B4-BE49-F238E27FC236}">
                <a16:creationId xmlns:a16="http://schemas.microsoft.com/office/drawing/2014/main" id="{EEEEE4AA-9430-46A5-AA56-629697EEC888}"/>
              </a:ext>
            </a:extLst>
          </p:cNvPr>
          <p:cNvSpPr>
            <a:spLocks xmlns:a="http://schemas.openxmlformats.org/drawingml/2006/main" noGrp="1"/>
          </p:cNvSpPr>
          <p:nvPr/>
        </p:nvSpPr>
        <p:spPr>
          <a:xfrm xmlns:a="http://schemas.openxmlformats.org/drawingml/2006/main">
            <a:off x="7762875" y="2438400"/>
            <a:ext cx="285750" cy="228600"/>
          </a:xfrm>
          <a:prstGeom xmlns:a="http://schemas.openxmlformats.org/drawingml/2006/main" prst="rightArrow">
            <a:avLst/>
          </a:prstGeom>
          <a:solidFill xmlns:a="http://schemas.openxmlformats.org/drawingml/2006/main">
            <a:srgbClr val="6F879C"/>
          </a:solidFill>
          <a:ln xmlns:a="http://schemas.openxmlformats.org/drawingml/2006/main" w="0">
            <a:solidFill>
              <a:srgbClr val="6F879C"/>
            </a:solidFill>
            <a:prstDash val="solid"/>
          </a:ln>
        </p:spPr>
      </p:sp>
      <p:sp>
        <p:nvSpPr>
          <p:cNvPr id="17" name="">
            <a:extLst xmlns:a="http://schemas.openxmlformats.org/drawingml/2006/main">
              <a:ext uri="{FF2B5EF4-FFF2-40B4-BE49-F238E27FC236}">
                <a16:creationId xmlns:a16="http://schemas.microsoft.com/office/drawing/2014/main" id="{3CC9AF47-B355-4849-BA61-12B38420FA6C}"/>
              </a:ext>
            </a:extLst>
          </p:cNvPr>
          <p:cNvSpPr>
            <a:spLocks xmlns:a="http://schemas.openxmlformats.org/drawingml/2006/main" noGrp="1"/>
          </p:cNvSpPr>
          <p:nvPr/>
        </p:nvSpPr>
        <p:spPr>
          <a:xfrm xmlns:a="http://schemas.openxmlformats.org/drawingml/2006/main">
            <a:off x="8096250" y="2247900"/>
            <a:ext cx="1352550" cy="628650"/>
          </a:xfrm>
          <a:prstGeom xmlns:a="http://schemas.openxmlformats.org/drawingml/2006/main" prst="roundRect">
            <a:avLst>
              <a:gd name="adj" fmla="val 21212"/>
            </a:avLst>
          </a:prstGeom>
          <a:solidFill xmlns:a="http://schemas.openxmlformats.org/drawingml/2006/main">
            <a:srgbClr val="1477F8"/>
          </a:solidFill>
          <a:ln xmlns:a="http://schemas.openxmlformats.org/drawingml/2006/main" w="19050">
            <a:solidFill>
              <a:srgbClr val="63B3FF"/>
            </a:solidFill>
            <a:prstDash val="solid"/>
          </a:ln>
        </p:spPr>
      </p:sp>
      <p:sp>
        <p:nvSpPr>
          <p:cNvPr id="18" name="">
            <a:extLst xmlns:a="http://schemas.openxmlformats.org/drawingml/2006/main">
              <a:ext uri="{FF2B5EF4-FFF2-40B4-BE49-F238E27FC236}">
                <a16:creationId xmlns:a16="http://schemas.microsoft.com/office/drawing/2014/main" id="{C9E77828-58BC-41C6-8C2C-5179FF6EB9BC}"/>
              </a:ext>
            </a:extLst>
          </p:cNvPr>
          <p:cNvSpPr>
            <a:spLocks xmlns:a="http://schemas.openxmlformats.org/drawingml/2006/main" noGrp="1"/>
          </p:cNvSpPr>
          <p:nvPr/>
        </p:nvSpPr>
        <p:spPr>
          <a:xfrm xmlns:a="http://schemas.openxmlformats.org/drawingml/2006/main">
            <a:off x="8191500" y="243840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Verify</a:t>
            </a:r>
          </a:p>
        </p:txBody>
      </p:sp>
      <p:sp>
        <p:nvSpPr>
          <p:cNvPr id="19" name="">
            <a:extLst xmlns:a="http://schemas.openxmlformats.org/drawingml/2006/main">
              <a:ext uri="{FF2B5EF4-FFF2-40B4-BE49-F238E27FC236}">
                <a16:creationId xmlns:a16="http://schemas.microsoft.com/office/drawing/2014/main" id="{407F3E0A-2560-44F2-9B85-70008D0A0CCF}"/>
              </a:ext>
            </a:extLst>
          </p:cNvPr>
          <p:cNvSpPr>
            <a:spLocks xmlns:a="http://schemas.openxmlformats.org/drawingml/2006/main" noGrp="1"/>
          </p:cNvSpPr>
          <p:nvPr/>
        </p:nvSpPr>
        <p:spPr>
          <a:xfrm xmlns:a="http://schemas.openxmlformats.org/drawingml/2006/main">
            <a:off x="9515475" y="2438400"/>
            <a:ext cx="285750" cy="228600"/>
          </a:xfrm>
          <a:prstGeom xmlns:a="http://schemas.openxmlformats.org/drawingml/2006/main" prst="rightArrow">
            <a:avLst/>
          </a:prstGeom>
          <a:solidFill xmlns:a="http://schemas.openxmlformats.org/drawingml/2006/main">
            <a:srgbClr val="6F879C"/>
          </a:solidFill>
          <a:ln xmlns:a="http://schemas.openxmlformats.org/drawingml/2006/main" w="0">
            <a:solidFill>
              <a:srgbClr val="6F879C"/>
            </a:solidFill>
            <a:prstDash val="solid"/>
          </a:ln>
        </p:spPr>
      </p:sp>
      <p:sp>
        <p:nvSpPr>
          <p:cNvPr id="20" name="">
            <a:extLst xmlns:a="http://schemas.openxmlformats.org/drawingml/2006/main">
              <a:ext uri="{FF2B5EF4-FFF2-40B4-BE49-F238E27FC236}">
                <a16:creationId xmlns:a16="http://schemas.microsoft.com/office/drawing/2014/main" id="{65205168-0A78-4CEC-9669-370FA90EED2E}"/>
              </a:ext>
            </a:extLst>
          </p:cNvPr>
          <p:cNvSpPr>
            <a:spLocks xmlns:a="http://schemas.openxmlformats.org/drawingml/2006/main" noGrp="1"/>
          </p:cNvSpPr>
          <p:nvPr/>
        </p:nvSpPr>
        <p:spPr>
          <a:xfrm xmlns:a="http://schemas.openxmlformats.org/drawingml/2006/main">
            <a:off x="9848850" y="2247900"/>
            <a:ext cx="1809750" cy="628650"/>
          </a:xfrm>
          <a:prstGeom xmlns:a="http://schemas.openxmlformats.org/drawingml/2006/main" prst="roundRect">
            <a:avLst>
              <a:gd name="adj" fmla="val 21212"/>
            </a:avLst>
          </a:prstGeom>
          <a:solidFill xmlns:a="http://schemas.openxmlformats.org/drawingml/2006/main">
            <a:srgbClr val="104E3D"/>
          </a:solidFill>
          <a:ln xmlns:a="http://schemas.openxmlformats.org/drawingml/2006/main" w="19050">
            <a:solidFill>
              <a:srgbClr val="23A978"/>
            </a:solidFill>
            <a:prstDash val="solid"/>
          </a:ln>
        </p:spPr>
      </p:sp>
      <p:sp>
        <p:nvSpPr>
          <p:cNvPr id="21" name="">
            <a:extLst xmlns:a="http://schemas.openxmlformats.org/drawingml/2006/main">
              <a:ext uri="{FF2B5EF4-FFF2-40B4-BE49-F238E27FC236}">
                <a16:creationId xmlns:a16="http://schemas.microsoft.com/office/drawing/2014/main" id="{2A76B540-A4D2-43D5-9CAC-8B612C52067A}"/>
              </a:ext>
            </a:extLst>
          </p:cNvPr>
          <p:cNvSpPr>
            <a:spLocks xmlns:a="http://schemas.openxmlformats.org/drawingml/2006/main" noGrp="1"/>
          </p:cNvSpPr>
          <p:nvPr/>
        </p:nvSpPr>
        <p:spPr>
          <a:xfrm xmlns:a="http://schemas.openxmlformats.org/drawingml/2006/main">
            <a:off x="9944100" y="2438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Read-only window</a:t>
            </a:r>
          </a:p>
        </p:txBody>
      </p:sp>
      <p:sp>
        <p:nvSpPr>
          <p:cNvPr id="22" name="">
            <a:extLst xmlns:a="http://schemas.openxmlformats.org/drawingml/2006/main">
              <a:ext uri="{FF2B5EF4-FFF2-40B4-BE49-F238E27FC236}">
                <a16:creationId xmlns:a16="http://schemas.microsoft.com/office/drawing/2014/main" id="{88798E05-07EB-4421-8750-12041E6B5127}"/>
              </a:ext>
            </a:extLst>
          </p:cNvPr>
          <p:cNvSpPr>
            <a:spLocks xmlns:a="http://schemas.openxmlformats.org/drawingml/2006/main" noGrp="1"/>
          </p:cNvSpPr>
          <p:nvPr/>
        </p:nvSpPr>
        <p:spPr>
          <a:xfrm xmlns:a="http://schemas.openxmlformats.org/drawingml/2006/main">
            <a:off x="723900" y="3467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63B3FF"/>
                </a:solidFill>
                <a:latin typeface="Inter"/>
                <a:ea typeface="Inter"/>
                <a:cs typeface="Inter"/>
              </a:defRPr>
            </a:pPr>
            <a:r>
              <a:rPr sz="1050" b="1">
                <a:solidFill>
                  <a:srgbClr val="63B3FF"/>
                </a:solidFill>
                <a:latin typeface="Inter"/>
                <a:ea typeface="Inter"/>
                <a:cs typeface="Inter"/>
              </a:rPr>
              <a:t>VERIFICATION GATE</a:t>
            </a:r>
          </a:p>
        </p:txBody>
      </p:sp>
      <p:sp>
        <p:nvSpPr>
          <p:cNvPr id="23" name="">
            <a:extLst xmlns:a="http://schemas.openxmlformats.org/drawingml/2006/main">
              <a:ext uri="{FF2B5EF4-FFF2-40B4-BE49-F238E27FC236}">
                <a16:creationId xmlns:a16="http://schemas.microsoft.com/office/drawing/2014/main" id="{BC710F34-CACF-46AC-8526-1D90DD5D5166}"/>
              </a:ext>
            </a:extLst>
          </p:cNvPr>
          <p:cNvSpPr>
            <a:spLocks xmlns:a="http://schemas.openxmlformats.org/drawingml/2006/main" noGrp="1"/>
          </p:cNvSpPr>
          <p:nvPr/>
        </p:nvSpPr>
        <p:spPr>
          <a:xfrm xmlns:a="http://schemas.openxmlformats.org/drawingml/2006/main">
            <a:off x="723900" y="3886200"/>
            <a:ext cx="4953000" cy="514350"/>
          </a:xfrm>
          <a:prstGeom xmlns:a="http://schemas.openxmlformats.org/drawingml/2006/main" prst="roundRect">
            <a:avLst>
              <a:gd name="adj" fmla="val 22222"/>
            </a:avLst>
          </a:prstGeom>
          <a:solidFill xmlns:a="http://schemas.openxmlformats.org/drawingml/2006/main">
            <a:srgbClr val="0B2947"/>
          </a:solidFill>
          <a:ln xmlns:a="http://schemas.openxmlformats.org/drawingml/2006/main" w="9525">
            <a:solidFill>
              <a:srgbClr val="31506C"/>
            </a:solidFill>
            <a:prstDash val="solid"/>
          </a:ln>
        </p:spPr>
      </p:sp>
      <p:sp>
        <p:nvSpPr>
          <p:cNvPr id="24" name="">
            <a:extLst xmlns:a="http://schemas.openxmlformats.org/drawingml/2006/main">
              <a:ext uri="{FF2B5EF4-FFF2-40B4-BE49-F238E27FC236}">
                <a16:creationId xmlns:a16="http://schemas.microsoft.com/office/drawing/2014/main" id="{B1E6A73D-C4F0-4231-B975-2A1FE40BE653}"/>
              </a:ext>
            </a:extLst>
          </p:cNvPr>
          <p:cNvSpPr>
            <a:spLocks xmlns:a="http://schemas.openxmlformats.org/drawingml/2006/main" noGrp="1"/>
          </p:cNvSpPr>
          <p:nvPr/>
        </p:nvSpPr>
        <p:spPr>
          <a:xfrm xmlns:a="http://schemas.openxmlformats.org/drawingml/2006/main">
            <a:off x="895350" y="4038600"/>
            <a:ext cx="209550" cy="38100"/>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25" name="">
            <a:extLst xmlns:a="http://schemas.openxmlformats.org/drawingml/2006/main">
              <a:ext uri="{FF2B5EF4-FFF2-40B4-BE49-F238E27FC236}">
                <a16:creationId xmlns:a16="http://schemas.microsoft.com/office/drawing/2014/main" id="{4E5D1660-87CF-4046-87D8-A2DBE15AF89C}"/>
              </a:ext>
            </a:extLst>
          </p:cNvPr>
          <p:cNvSpPr>
            <a:spLocks xmlns:a="http://schemas.openxmlformats.org/drawingml/2006/main" noGrp="1"/>
          </p:cNvSpPr>
          <p:nvPr/>
        </p:nvSpPr>
        <p:spPr>
          <a:xfrm xmlns:a="http://schemas.openxmlformats.org/drawingml/2006/main">
            <a:off x="1257300" y="4019550"/>
            <a:ext cx="417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Inter"/>
                <a:ea typeface="Inter"/>
                <a:cs typeface="Inter"/>
              </a:defRPr>
            </a:pPr>
            <a:r>
              <a:rPr sz="1275" b="1">
                <a:solidFill>
                  <a:srgbClr val="FFFFFF"/>
                </a:solidFill>
                <a:latin typeface="Inter"/>
                <a:ea typeface="Inter"/>
                <a:cs typeface="Inter"/>
              </a:rPr>
              <a:t>Counts and references reconcile</a:t>
            </a:r>
          </a:p>
        </p:txBody>
      </p:sp>
      <p:sp>
        <p:nvSpPr>
          <p:cNvPr id="26" name="">
            <a:extLst xmlns:a="http://schemas.openxmlformats.org/drawingml/2006/main">
              <a:ext uri="{FF2B5EF4-FFF2-40B4-BE49-F238E27FC236}">
                <a16:creationId xmlns:a16="http://schemas.microsoft.com/office/drawing/2014/main" id="{16BFE11E-6D45-4F66-B8C6-181AB6E55E35}"/>
              </a:ext>
            </a:extLst>
          </p:cNvPr>
          <p:cNvSpPr>
            <a:spLocks xmlns:a="http://schemas.openxmlformats.org/drawingml/2006/main" noGrp="1"/>
          </p:cNvSpPr>
          <p:nvPr/>
        </p:nvSpPr>
        <p:spPr>
          <a:xfrm xmlns:a="http://schemas.openxmlformats.org/drawingml/2006/main">
            <a:off x="5962650" y="3886200"/>
            <a:ext cx="4953000" cy="514350"/>
          </a:xfrm>
          <a:prstGeom xmlns:a="http://schemas.openxmlformats.org/drawingml/2006/main" prst="roundRect">
            <a:avLst>
              <a:gd name="adj" fmla="val 22222"/>
            </a:avLst>
          </a:prstGeom>
          <a:solidFill xmlns:a="http://schemas.openxmlformats.org/drawingml/2006/main">
            <a:srgbClr val="0B2947"/>
          </a:solidFill>
          <a:ln xmlns:a="http://schemas.openxmlformats.org/drawingml/2006/main" w="9525">
            <a:solidFill>
              <a:srgbClr val="31506C"/>
            </a:solidFill>
            <a:prstDash val="solid"/>
          </a:ln>
        </p:spPr>
      </p:sp>
      <p:sp>
        <p:nvSpPr>
          <p:cNvPr id="27" name="">
            <a:extLst xmlns:a="http://schemas.openxmlformats.org/drawingml/2006/main">
              <a:ext uri="{FF2B5EF4-FFF2-40B4-BE49-F238E27FC236}">
                <a16:creationId xmlns:a16="http://schemas.microsoft.com/office/drawing/2014/main" id="{C7B653F2-2FF0-4C1F-A28B-F19608B5C185}"/>
              </a:ext>
            </a:extLst>
          </p:cNvPr>
          <p:cNvSpPr>
            <a:spLocks xmlns:a="http://schemas.openxmlformats.org/drawingml/2006/main" noGrp="1"/>
          </p:cNvSpPr>
          <p:nvPr/>
        </p:nvSpPr>
        <p:spPr>
          <a:xfrm xmlns:a="http://schemas.openxmlformats.org/drawingml/2006/main">
            <a:off x="6134100" y="4038600"/>
            <a:ext cx="209550" cy="38100"/>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28" name="">
            <a:extLst xmlns:a="http://schemas.openxmlformats.org/drawingml/2006/main">
              <a:ext uri="{FF2B5EF4-FFF2-40B4-BE49-F238E27FC236}">
                <a16:creationId xmlns:a16="http://schemas.microsoft.com/office/drawing/2014/main" id="{0656516D-7E77-4EA4-B53A-A87AE970BCA6}"/>
              </a:ext>
            </a:extLst>
          </p:cNvPr>
          <p:cNvSpPr>
            <a:spLocks xmlns:a="http://schemas.openxmlformats.org/drawingml/2006/main" noGrp="1"/>
          </p:cNvSpPr>
          <p:nvPr/>
        </p:nvSpPr>
        <p:spPr>
          <a:xfrm xmlns:a="http://schemas.openxmlformats.org/drawingml/2006/main">
            <a:off x="6496050" y="4019550"/>
            <a:ext cx="417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Inter"/>
                <a:ea typeface="Inter"/>
                <a:cs typeface="Inter"/>
              </a:defRPr>
            </a:pPr>
            <a:r>
              <a:rPr sz="1275" b="1">
                <a:solidFill>
                  <a:srgbClr val="FFFFFF"/>
                </a:solidFill>
                <a:latin typeface="Inter"/>
                <a:ea typeface="Inter"/>
                <a:cs typeface="Inter"/>
              </a:rPr>
              <a:t>Permissions are preserved</a:t>
            </a:r>
          </a:p>
        </p:txBody>
      </p:sp>
      <p:sp>
        <p:nvSpPr>
          <p:cNvPr id="29" name="">
            <a:extLst xmlns:a="http://schemas.openxmlformats.org/drawingml/2006/main">
              <a:ext uri="{FF2B5EF4-FFF2-40B4-BE49-F238E27FC236}">
                <a16:creationId xmlns:a16="http://schemas.microsoft.com/office/drawing/2014/main" id="{E94E7603-AA47-4E42-B736-A29EA4F45A82}"/>
              </a:ext>
            </a:extLst>
          </p:cNvPr>
          <p:cNvSpPr>
            <a:spLocks xmlns:a="http://schemas.openxmlformats.org/drawingml/2006/main" noGrp="1"/>
          </p:cNvSpPr>
          <p:nvPr/>
        </p:nvSpPr>
        <p:spPr>
          <a:xfrm xmlns:a="http://schemas.openxmlformats.org/drawingml/2006/main">
            <a:off x="723900" y="4629150"/>
            <a:ext cx="4953000" cy="514350"/>
          </a:xfrm>
          <a:prstGeom xmlns:a="http://schemas.openxmlformats.org/drawingml/2006/main" prst="roundRect">
            <a:avLst>
              <a:gd name="adj" fmla="val 22222"/>
            </a:avLst>
          </a:prstGeom>
          <a:solidFill xmlns:a="http://schemas.openxmlformats.org/drawingml/2006/main">
            <a:srgbClr val="0B2947"/>
          </a:solidFill>
          <a:ln xmlns:a="http://schemas.openxmlformats.org/drawingml/2006/main" w="9525">
            <a:solidFill>
              <a:srgbClr val="31506C"/>
            </a:solidFill>
            <a:prstDash val="solid"/>
          </a:ln>
        </p:spPr>
      </p:sp>
      <p:sp>
        <p:nvSpPr>
          <p:cNvPr id="30" name="">
            <a:extLst xmlns:a="http://schemas.openxmlformats.org/drawingml/2006/main">
              <a:ext uri="{FF2B5EF4-FFF2-40B4-BE49-F238E27FC236}">
                <a16:creationId xmlns:a16="http://schemas.microsoft.com/office/drawing/2014/main" id="{DBABAE49-0695-47D6-AD02-A54B84FA7A4E}"/>
              </a:ext>
            </a:extLst>
          </p:cNvPr>
          <p:cNvSpPr>
            <a:spLocks xmlns:a="http://schemas.openxmlformats.org/drawingml/2006/main" noGrp="1"/>
          </p:cNvSpPr>
          <p:nvPr/>
        </p:nvSpPr>
        <p:spPr>
          <a:xfrm xmlns:a="http://schemas.openxmlformats.org/drawingml/2006/main">
            <a:off x="895350" y="4781550"/>
            <a:ext cx="209550" cy="38100"/>
          </a:xfrm>
          <a:prstGeom xmlns:a="http://schemas.openxmlformats.org/drawingml/2006/main" prst="rect">
            <a:avLst/>
          </a:prstGeom>
          <a:solidFill xmlns:a="http://schemas.openxmlformats.org/drawingml/2006/main">
            <a:srgbClr val="63B3FF"/>
          </a:solidFill>
          <a:ln xmlns:a="http://schemas.openxmlformats.org/drawingml/2006/main" w="0">
            <a:solidFill>
              <a:srgbClr val="63B3FF"/>
            </a:solidFill>
            <a:prstDash val="solid"/>
          </a:ln>
        </p:spPr>
      </p:sp>
      <p:sp>
        <p:nvSpPr>
          <p:cNvPr id="31" name="">
            <a:extLst xmlns:a="http://schemas.openxmlformats.org/drawingml/2006/main">
              <a:ext uri="{FF2B5EF4-FFF2-40B4-BE49-F238E27FC236}">
                <a16:creationId xmlns:a16="http://schemas.microsoft.com/office/drawing/2014/main" id="{C64EEC5D-880B-429E-AF0C-1B7D076C5044}"/>
              </a:ext>
            </a:extLst>
          </p:cNvPr>
          <p:cNvSpPr>
            <a:spLocks xmlns:a="http://schemas.openxmlformats.org/drawingml/2006/main" noGrp="1"/>
          </p:cNvSpPr>
          <p:nvPr/>
        </p:nvSpPr>
        <p:spPr>
          <a:xfrm xmlns:a="http://schemas.openxmlformats.org/drawingml/2006/main">
            <a:off x="1257300" y="4762500"/>
            <a:ext cx="417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Inter"/>
                <a:ea typeface="Inter"/>
                <a:cs typeface="Inter"/>
              </a:defRPr>
            </a:pPr>
            <a:r>
              <a:rPr sz="1275" b="1">
                <a:solidFill>
                  <a:srgbClr val="FFFFFF"/>
                </a:solidFill>
                <a:latin typeface="Inter"/>
                <a:ea typeface="Inter"/>
                <a:cs typeface="Inter"/>
              </a:rPr>
              <a:t>Attachment checksums pass</a:t>
            </a:r>
          </a:p>
        </p:txBody>
      </p:sp>
      <p:sp>
        <p:nvSpPr>
          <p:cNvPr id="32" name="">
            <a:extLst xmlns:a="http://schemas.openxmlformats.org/drawingml/2006/main">
              <a:ext uri="{FF2B5EF4-FFF2-40B4-BE49-F238E27FC236}">
                <a16:creationId xmlns:a16="http://schemas.microsoft.com/office/drawing/2014/main" id="{5AA48174-1D2C-4BDB-985E-085B35041118}"/>
              </a:ext>
            </a:extLst>
          </p:cNvPr>
          <p:cNvSpPr>
            <a:spLocks xmlns:a="http://schemas.openxmlformats.org/drawingml/2006/main" noGrp="1"/>
          </p:cNvSpPr>
          <p:nvPr/>
        </p:nvSpPr>
        <p:spPr>
          <a:xfrm xmlns:a="http://schemas.openxmlformats.org/drawingml/2006/main">
            <a:off x="5962650" y="4629150"/>
            <a:ext cx="4953000" cy="514350"/>
          </a:xfrm>
          <a:prstGeom xmlns:a="http://schemas.openxmlformats.org/drawingml/2006/main" prst="roundRect">
            <a:avLst>
              <a:gd name="adj" fmla="val 22222"/>
            </a:avLst>
          </a:prstGeom>
          <a:solidFill xmlns:a="http://schemas.openxmlformats.org/drawingml/2006/main">
            <a:srgbClr val="0B2947"/>
          </a:solidFill>
          <a:ln xmlns:a="http://schemas.openxmlformats.org/drawingml/2006/main" w="9525">
            <a:solidFill>
              <a:srgbClr val="31506C"/>
            </a:solidFill>
            <a:prstDash val="solid"/>
          </a:ln>
        </p:spPr>
      </p:sp>
      <p:sp>
        <p:nvSpPr>
          <p:cNvPr id="33" name="">
            <a:extLst xmlns:a="http://schemas.openxmlformats.org/drawingml/2006/main">
              <a:ext uri="{FF2B5EF4-FFF2-40B4-BE49-F238E27FC236}">
                <a16:creationId xmlns:a16="http://schemas.microsoft.com/office/drawing/2014/main" id="{8EE24C25-E5C9-45FA-8FC9-77547F3B1A12}"/>
              </a:ext>
            </a:extLst>
          </p:cNvPr>
          <p:cNvSpPr>
            <a:spLocks xmlns:a="http://schemas.openxmlformats.org/drawingml/2006/main" noGrp="1"/>
          </p:cNvSpPr>
          <p:nvPr/>
        </p:nvSpPr>
        <p:spPr>
          <a:xfrm xmlns:a="http://schemas.openxmlformats.org/drawingml/2006/main">
            <a:off x="6134100" y="4781550"/>
            <a:ext cx="209550" cy="38100"/>
          </a:xfrm>
          <a:prstGeom xmlns:a="http://schemas.openxmlformats.org/drawingml/2006/main" prst="rect">
            <a:avLst/>
          </a:prstGeom>
          <a:solidFill xmlns:a="http://schemas.openxmlformats.org/drawingml/2006/main">
            <a:srgbClr val="23A978"/>
          </a:solidFill>
          <a:ln xmlns:a="http://schemas.openxmlformats.org/drawingml/2006/main" w="0">
            <a:solidFill>
              <a:srgbClr val="23A978"/>
            </a:solidFill>
            <a:prstDash val="solid"/>
          </a:ln>
        </p:spPr>
      </p:sp>
      <p:sp>
        <p:nvSpPr>
          <p:cNvPr id="34" name="">
            <a:extLst xmlns:a="http://schemas.openxmlformats.org/drawingml/2006/main">
              <a:ext uri="{FF2B5EF4-FFF2-40B4-BE49-F238E27FC236}">
                <a16:creationId xmlns:a16="http://schemas.microsoft.com/office/drawing/2014/main" id="{2FAAA6D0-09FC-4D43-8395-48B2FB230328}"/>
              </a:ext>
            </a:extLst>
          </p:cNvPr>
          <p:cNvSpPr>
            <a:spLocks xmlns:a="http://schemas.openxmlformats.org/drawingml/2006/main" noGrp="1"/>
          </p:cNvSpPr>
          <p:nvPr/>
        </p:nvSpPr>
        <p:spPr>
          <a:xfrm xmlns:a="http://schemas.openxmlformats.org/drawingml/2006/main">
            <a:off x="6496050" y="4762500"/>
            <a:ext cx="417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Inter"/>
                <a:ea typeface="Inter"/>
                <a:cs typeface="Inter"/>
              </a:defRPr>
            </a:pPr>
            <a:r>
              <a:rPr sz="1275" b="1">
                <a:solidFill>
                  <a:srgbClr val="FFFFFF"/>
                </a:solidFill>
                <a:latin typeface="Inter"/>
                <a:ea typeface="Inter"/>
                <a:cs typeface="Inter"/>
              </a:rPr>
              <a:t>User acceptance is complete</a:t>
            </a:r>
          </a:p>
        </p:txBody>
      </p:sp>
      <p:sp>
        <p:nvSpPr>
          <p:cNvPr id="35" name="">
            <a:extLst xmlns:a="http://schemas.openxmlformats.org/drawingml/2006/main">
              <a:ext uri="{FF2B5EF4-FFF2-40B4-BE49-F238E27FC236}">
                <a16:creationId xmlns:a16="http://schemas.microsoft.com/office/drawing/2014/main" id="{833207E1-3191-4337-8EA3-7AED2FBFA7A5}"/>
              </a:ext>
            </a:extLst>
          </p:cNvPr>
          <p:cNvSpPr>
            <a:spLocks xmlns:a="http://schemas.openxmlformats.org/drawingml/2006/main" noGrp="1"/>
          </p:cNvSpPr>
          <p:nvPr/>
        </p:nvSpPr>
        <p:spPr>
          <a:xfrm xmlns:a="http://schemas.openxmlformats.org/drawingml/2006/main">
            <a:off x="723900" y="5524500"/>
            <a:ext cx="10782300" cy="9525"/>
          </a:xfrm>
          <a:prstGeom xmlns:a="http://schemas.openxmlformats.org/drawingml/2006/main" prst="rect">
            <a:avLst/>
          </a:prstGeom>
          <a:solidFill xmlns:a="http://schemas.openxmlformats.org/drawingml/2006/main">
            <a:srgbClr val="31506C"/>
          </a:solidFill>
          <a:ln xmlns:a="http://schemas.openxmlformats.org/drawingml/2006/main" w="0">
            <a:solidFill>
              <a:srgbClr val="31506C"/>
            </a:solidFill>
            <a:prstDash val="solid"/>
          </a:ln>
        </p:spPr>
      </p:sp>
      <p:sp>
        <p:nvSpPr>
          <p:cNvPr id="36" name="">
            <a:extLst xmlns:a="http://schemas.openxmlformats.org/drawingml/2006/main">
              <a:ext uri="{FF2B5EF4-FFF2-40B4-BE49-F238E27FC236}">
                <a16:creationId xmlns:a16="http://schemas.microsoft.com/office/drawing/2014/main" id="{91613E88-A453-4A73-86D6-C955887AA642}"/>
              </a:ext>
            </a:extLst>
          </p:cNvPr>
          <p:cNvSpPr>
            <a:spLocks xmlns:a="http://schemas.openxmlformats.org/drawingml/2006/main" noGrp="1"/>
          </p:cNvSpPr>
          <p:nvPr/>
        </p:nvSpPr>
        <p:spPr>
          <a:xfrm xmlns:a="http://schemas.openxmlformats.org/drawingml/2006/main">
            <a:off x="723900" y="57340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Atlassian remains authoritative until each team’s cutover.</a:t>
            </a:r>
          </a:p>
        </p:txBody>
      </p:sp>
      <p:sp>
        <p:nvSpPr>
          <p:cNvPr id="37" name="">
            <a:extLst xmlns:a="http://schemas.openxmlformats.org/drawingml/2006/main">
              <a:ext uri="{FF2B5EF4-FFF2-40B4-BE49-F238E27FC236}">
                <a16:creationId xmlns:a16="http://schemas.microsoft.com/office/drawing/2014/main" id="{F60B7EC9-3CDB-4580-9179-FC14DD211DCB}"/>
              </a:ext>
            </a:extLst>
          </p:cNvPr>
          <p:cNvSpPr>
            <a:spLocks xmlns:a="http://schemas.openxmlformats.org/drawingml/2006/main" noGrp="1"/>
          </p:cNvSpPr>
          <p:nvPr/>
        </p:nvSpPr>
        <p:spPr>
          <a:xfrm xmlns:a="http://schemas.openxmlformats.org/drawingml/2006/main">
            <a:off x="7810500" y="5734050"/>
            <a:ext cx="3695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a:solidFill>
                  <a:srgbClr val="F3A712"/>
                </a:solidFill>
                <a:latin typeface="Inter"/>
                <a:ea typeface="Inter"/>
                <a:cs typeface="Inter"/>
              </a:defRPr>
            </a:pPr>
            <a:r>
              <a:rPr sz="1350" b="1">
                <a:solidFill>
                  <a:srgbClr val="F3A712"/>
                </a:solidFill>
                <a:latin typeface="Inter"/>
                <a:ea typeface="Inter"/>
                <a:cs typeface="Inter"/>
              </a:rPr>
              <a:t>No bidirectional synchronization.</a:t>
            </a:r>
          </a:p>
        </p:txBody>
      </p:sp>
      <p:sp>
        <p:nvSpPr>
          <p:cNvPr id="38" name="">
            <a:extLst xmlns:a="http://schemas.openxmlformats.org/drawingml/2006/main">
              <a:ext uri="{FF2B5EF4-FFF2-40B4-BE49-F238E27FC236}">
                <a16:creationId xmlns:a16="http://schemas.microsoft.com/office/drawing/2014/main" id="{4BE1D888-20BC-4FF8-ADF4-E1C3BCB02525}"/>
              </a:ext>
            </a:extLst>
          </p:cNvPr>
          <p:cNvSpPr>
            <a:spLocks xmlns:a="http://schemas.openxmlformats.org/drawingml/2006/main" noGrp="1"/>
          </p:cNvSpPr>
          <p:nvPr/>
        </p:nvSpPr>
        <p:spPr>
          <a:xfrm xmlns:a="http://schemas.openxmlformats.org/drawingml/2006/main">
            <a:off x="723900" y="63817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B9CCE0"/>
                </a:solidFill>
                <a:latin typeface="Inter"/>
                <a:ea typeface="Inter"/>
                <a:cs typeface="Inter"/>
              </a:defRPr>
            </a:pPr>
            <a:r>
              <a:rPr sz="825" b="1">
                <a:solidFill>
                  <a:srgbClr val="B9CCE0"/>
                </a:solidFill>
                <a:latin typeface="Inter"/>
                <a:ea typeface="Inter"/>
                <a:cs typeface="Inter"/>
              </a:rPr>
              <a:t>CONCEPT DEMO — SYNTHETIC DATA</a:t>
            </a:r>
          </a:p>
        </p:txBody>
      </p:sp>
    </p:spTree>
    <p:extLst>
      <p:ext uri="{BB962C8B-B14F-4D97-AF65-F5344CB8AC3E}">
        <p14:creationId xmlns:p14="http://schemas.microsoft.com/office/powerpoint/2010/main" val="1723230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2026-08-24T21:13:21.4200000Z</dcterms:created>
  <dcterms:modified xsi:type="dcterms:W3CDTF">2026-08-24T21:13:21.4200000Z</dcterms:modified>
</coreProperties>
</file>